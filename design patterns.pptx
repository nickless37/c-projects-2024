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38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smtClean="0"/>
              <a:t>Образец заголовка</a:t>
            </a:r>
            <a:endParaRPr lang="uk-UA"/>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uk-UA"/>
          </a:p>
        </p:txBody>
      </p:sp>
      <p:sp>
        <p:nvSpPr>
          <p:cNvPr id="4" name="Дата 3"/>
          <p:cNvSpPr>
            <a:spLocks noGrp="1"/>
          </p:cNvSpPr>
          <p:nvPr>
            <p:ph type="dt" sz="half" idx="10"/>
          </p:nvPr>
        </p:nvSpPr>
        <p:spPr/>
        <p:txBody>
          <a:bodyPr/>
          <a:lstStyle/>
          <a:p>
            <a:fld id="{55CE5003-25C1-4ECA-B6C6-8487FA663B89}" type="datetimeFigureOut">
              <a:rPr lang="uk-UA" smtClean="0"/>
              <a:t>17.10.2024</a:t>
            </a:fld>
            <a:endParaRPr lang="uk-UA"/>
          </a:p>
        </p:txBody>
      </p:sp>
      <p:sp>
        <p:nvSpPr>
          <p:cNvPr id="5" name="Нижний колонтитул 4"/>
          <p:cNvSpPr>
            <a:spLocks noGrp="1"/>
          </p:cNvSpPr>
          <p:nvPr>
            <p:ph type="ftr" sz="quarter" idx="11"/>
          </p:nvPr>
        </p:nvSpPr>
        <p:spPr/>
        <p:txBody>
          <a:bodyPr/>
          <a:lstStyle/>
          <a:p>
            <a:endParaRPr lang="uk-UA"/>
          </a:p>
        </p:txBody>
      </p:sp>
      <p:sp>
        <p:nvSpPr>
          <p:cNvPr id="6" name="Номер слайда 5"/>
          <p:cNvSpPr>
            <a:spLocks noGrp="1"/>
          </p:cNvSpPr>
          <p:nvPr>
            <p:ph type="sldNum" sz="quarter" idx="12"/>
          </p:nvPr>
        </p:nvSpPr>
        <p:spPr/>
        <p:txBody>
          <a:bodyPr/>
          <a:lstStyle/>
          <a:p>
            <a:fld id="{A2CA1756-BFF8-42E0-BBFF-87283250869D}" type="slidenum">
              <a:rPr lang="uk-UA" smtClean="0"/>
              <a:t>‹#›</a:t>
            </a:fld>
            <a:endParaRPr lang="uk-UA"/>
          </a:p>
        </p:txBody>
      </p:sp>
    </p:spTree>
    <p:extLst>
      <p:ext uri="{BB962C8B-B14F-4D97-AF65-F5344CB8AC3E}">
        <p14:creationId xmlns:p14="http://schemas.microsoft.com/office/powerpoint/2010/main" val="18546878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uk-UA"/>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uk-UA"/>
          </a:p>
        </p:txBody>
      </p:sp>
      <p:sp>
        <p:nvSpPr>
          <p:cNvPr id="4" name="Дата 3"/>
          <p:cNvSpPr>
            <a:spLocks noGrp="1"/>
          </p:cNvSpPr>
          <p:nvPr>
            <p:ph type="dt" sz="half" idx="10"/>
          </p:nvPr>
        </p:nvSpPr>
        <p:spPr/>
        <p:txBody>
          <a:bodyPr/>
          <a:lstStyle/>
          <a:p>
            <a:fld id="{55CE5003-25C1-4ECA-B6C6-8487FA663B89}" type="datetimeFigureOut">
              <a:rPr lang="uk-UA" smtClean="0"/>
              <a:t>17.10.2024</a:t>
            </a:fld>
            <a:endParaRPr lang="uk-UA"/>
          </a:p>
        </p:txBody>
      </p:sp>
      <p:sp>
        <p:nvSpPr>
          <p:cNvPr id="5" name="Нижний колонтитул 4"/>
          <p:cNvSpPr>
            <a:spLocks noGrp="1"/>
          </p:cNvSpPr>
          <p:nvPr>
            <p:ph type="ftr" sz="quarter" idx="11"/>
          </p:nvPr>
        </p:nvSpPr>
        <p:spPr/>
        <p:txBody>
          <a:bodyPr/>
          <a:lstStyle/>
          <a:p>
            <a:endParaRPr lang="uk-UA"/>
          </a:p>
        </p:txBody>
      </p:sp>
      <p:sp>
        <p:nvSpPr>
          <p:cNvPr id="6" name="Номер слайда 5"/>
          <p:cNvSpPr>
            <a:spLocks noGrp="1"/>
          </p:cNvSpPr>
          <p:nvPr>
            <p:ph type="sldNum" sz="quarter" idx="12"/>
          </p:nvPr>
        </p:nvSpPr>
        <p:spPr/>
        <p:txBody>
          <a:bodyPr/>
          <a:lstStyle/>
          <a:p>
            <a:fld id="{A2CA1756-BFF8-42E0-BBFF-87283250869D}" type="slidenum">
              <a:rPr lang="uk-UA" smtClean="0"/>
              <a:t>‹#›</a:t>
            </a:fld>
            <a:endParaRPr lang="uk-UA"/>
          </a:p>
        </p:txBody>
      </p:sp>
    </p:spTree>
    <p:extLst>
      <p:ext uri="{BB962C8B-B14F-4D97-AF65-F5344CB8AC3E}">
        <p14:creationId xmlns:p14="http://schemas.microsoft.com/office/powerpoint/2010/main" val="19699765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smtClean="0"/>
              <a:t>Образец заголовка</a:t>
            </a:r>
            <a:endParaRPr lang="uk-UA"/>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55CE5003-25C1-4ECA-B6C6-8487FA663B89}" type="datetimeFigureOut">
              <a:rPr lang="uk-UA" smtClean="0"/>
              <a:t>17.10.2024</a:t>
            </a:fld>
            <a:endParaRPr lang="uk-UA"/>
          </a:p>
        </p:txBody>
      </p:sp>
      <p:sp>
        <p:nvSpPr>
          <p:cNvPr id="5" name="Нижний колонтитул 4"/>
          <p:cNvSpPr>
            <a:spLocks noGrp="1"/>
          </p:cNvSpPr>
          <p:nvPr>
            <p:ph type="ftr" sz="quarter" idx="11"/>
          </p:nvPr>
        </p:nvSpPr>
        <p:spPr/>
        <p:txBody>
          <a:bodyPr/>
          <a:lstStyle/>
          <a:p>
            <a:endParaRPr lang="uk-UA"/>
          </a:p>
        </p:txBody>
      </p:sp>
      <p:sp>
        <p:nvSpPr>
          <p:cNvPr id="6" name="Номер слайда 5"/>
          <p:cNvSpPr>
            <a:spLocks noGrp="1"/>
          </p:cNvSpPr>
          <p:nvPr>
            <p:ph type="sldNum" sz="quarter" idx="12"/>
          </p:nvPr>
        </p:nvSpPr>
        <p:spPr/>
        <p:txBody>
          <a:bodyPr/>
          <a:lstStyle/>
          <a:p>
            <a:fld id="{A2CA1756-BFF8-42E0-BBFF-87283250869D}" type="slidenum">
              <a:rPr lang="uk-UA" smtClean="0"/>
              <a:t>‹#›</a:t>
            </a:fld>
            <a:endParaRPr lang="uk-UA"/>
          </a:p>
        </p:txBody>
      </p:sp>
    </p:spTree>
    <p:extLst>
      <p:ext uri="{BB962C8B-B14F-4D97-AF65-F5344CB8AC3E}">
        <p14:creationId xmlns:p14="http://schemas.microsoft.com/office/powerpoint/2010/main" val="4183375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uk-UA"/>
          </a:p>
        </p:txBody>
      </p:sp>
      <p:sp>
        <p:nvSpPr>
          <p:cNvPr id="3" name="Объект 2"/>
          <p:cNvSpPr>
            <a:spLocks noGrp="1"/>
          </p:cNvSpPr>
          <p:nvPr>
            <p:ph sz="half" idx="1"/>
          </p:nvPr>
        </p:nvSpPr>
        <p:spPr>
          <a:xfrm>
            <a:off x="838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uk-UA"/>
          </a:p>
        </p:txBody>
      </p:sp>
      <p:sp>
        <p:nvSpPr>
          <p:cNvPr id="4" name="Объект 3"/>
          <p:cNvSpPr>
            <a:spLocks noGrp="1"/>
          </p:cNvSpPr>
          <p:nvPr>
            <p:ph sz="half" idx="2"/>
          </p:nvPr>
        </p:nvSpPr>
        <p:spPr>
          <a:xfrm>
            <a:off x="6172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uk-UA"/>
          </a:p>
        </p:txBody>
      </p:sp>
      <p:sp>
        <p:nvSpPr>
          <p:cNvPr id="5" name="Дата 4"/>
          <p:cNvSpPr>
            <a:spLocks noGrp="1"/>
          </p:cNvSpPr>
          <p:nvPr>
            <p:ph type="dt" sz="half" idx="10"/>
          </p:nvPr>
        </p:nvSpPr>
        <p:spPr/>
        <p:txBody>
          <a:bodyPr/>
          <a:lstStyle/>
          <a:p>
            <a:fld id="{55CE5003-25C1-4ECA-B6C6-8487FA663B89}" type="datetimeFigureOut">
              <a:rPr lang="uk-UA" smtClean="0"/>
              <a:t>17.10.2024</a:t>
            </a:fld>
            <a:endParaRPr lang="uk-UA"/>
          </a:p>
        </p:txBody>
      </p:sp>
      <p:sp>
        <p:nvSpPr>
          <p:cNvPr id="6" name="Нижний колонтитул 5"/>
          <p:cNvSpPr>
            <a:spLocks noGrp="1"/>
          </p:cNvSpPr>
          <p:nvPr>
            <p:ph type="ftr" sz="quarter" idx="11"/>
          </p:nvPr>
        </p:nvSpPr>
        <p:spPr/>
        <p:txBody>
          <a:bodyPr/>
          <a:lstStyle/>
          <a:p>
            <a:endParaRPr lang="uk-UA"/>
          </a:p>
        </p:txBody>
      </p:sp>
      <p:sp>
        <p:nvSpPr>
          <p:cNvPr id="7" name="Номер слайда 6"/>
          <p:cNvSpPr>
            <a:spLocks noGrp="1"/>
          </p:cNvSpPr>
          <p:nvPr>
            <p:ph type="sldNum" sz="quarter" idx="12"/>
          </p:nvPr>
        </p:nvSpPr>
        <p:spPr/>
        <p:txBody>
          <a:bodyPr/>
          <a:lstStyle/>
          <a:p>
            <a:fld id="{A2CA1756-BFF8-42E0-BBFF-87283250869D}" type="slidenum">
              <a:rPr lang="uk-UA" smtClean="0"/>
              <a:t>‹#›</a:t>
            </a:fld>
            <a:endParaRPr lang="uk-UA"/>
          </a:p>
        </p:txBody>
      </p:sp>
    </p:spTree>
    <p:extLst>
      <p:ext uri="{BB962C8B-B14F-4D97-AF65-F5344CB8AC3E}">
        <p14:creationId xmlns:p14="http://schemas.microsoft.com/office/powerpoint/2010/main" val="746102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smtClean="0"/>
              <a:t>Образец заголовка</a:t>
            </a:r>
            <a:endParaRPr lang="uk-UA"/>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uk-UA"/>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uk-UA"/>
          </a:p>
        </p:txBody>
      </p:sp>
      <p:sp>
        <p:nvSpPr>
          <p:cNvPr id="7" name="Дата 6"/>
          <p:cNvSpPr>
            <a:spLocks noGrp="1"/>
          </p:cNvSpPr>
          <p:nvPr>
            <p:ph type="dt" sz="half" idx="10"/>
          </p:nvPr>
        </p:nvSpPr>
        <p:spPr/>
        <p:txBody>
          <a:bodyPr/>
          <a:lstStyle/>
          <a:p>
            <a:fld id="{55CE5003-25C1-4ECA-B6C6-8487FA663B89}" type="datetimeFigureOut">
              <a:rPr lang="uk-UA" smtClean="0"/>
              <a:t>17.10.2024</a:t>
            </a:fld>
            <a:endParaRPr lang="uk-UA"/>
          </a:p>
        </p:txBody>
      </p:sp>
      <p:sp>
        <p:nvSpPr>
          <p:cNvPr id="8" name="Нижний колонтитул 7"/>
          <p:cNvSpPr>
            <a:spLocks noGrp="1"/>
          </p:cNvSpPr>
          <p:nvPr>
            <p:ph type="ftr" sz="quarter" idx="11"/>
          </p:nvPr>
        </p:nvSpPr>
        <p:spPr/>
        <p:txBody>
          <a:bodyPr/>
          <a:lstStyle/>
          <a:p>
            <a:endParaRPr lang="uk-UA"/>
          </a:p>
        </p:txBody>
      </p:sp>
      <p:sp>
        <p:nvSpPr>
          <p:cNvPr id="9" name="Номер слайда 8"/>
          <p:cNvSpPr>
            <a:spLocks noGrp="1"/>
          </p:cNvSpPr>
          <p:nvPr>
            <p:ph type="sldNum" sz="quarter" idx="12"/>
          </p:nvPr>
        </p:nvSpPr>
        <p:spPr/>
        <p:txBody>
          <a:bodyPr/>
          <a:lstStyle/>
          <a:p>
            <a:fld id="{A2CA1756-BFF8-42E0-BBFF-87283250869D}" type="slidenum">
              <a:rPr lang="uk-UA" smtClean="0"/>
              <a:t>‹#›</a:t>
            </a:fld>
            <a:endParaRPr lang="uk-UA"/>
          </a:p>
        </p:txBody>
      </p:sp>
    </p:spTree>
    <p:extLst>
      <p:ext uri="{BB962C8B-B14F-4D97-AF65-F5344CB8AC3E}">
        <p14:creationId xmlns:p14="http://schemas.microsoft.com/office/powerpoint/2010/main" val="3450672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uk-UA"/>
          </a:p>
        </p:txBody>
      </p:sp>
      <p:sp>
        <p:nvSpPr>
          <p:cNvPr id="3" name="Дата 2"/>
          <p:cNvSpPr>
            <a:spLocks noGrp="1"/>
          </p:cNvSpPr>
          <p:nvPr>
            <p:ph type="dt" sz="half" idx="10"/>
          </p:nvPr>
        </p:nvSpPr>
        <p:spPr/>
        <p:txBody>
          <a:bodyPr/>
          <a:lstStyle/>
          <a:p>
            <a:fld id="{55CE5003-25C1-4ECA-B6C6-8487FA663B89}" type="datetimeFigureOut">
              <a:rPr lang="uk-UA" smtClean="0"/>
              <a:t>17.10.2024</a:t>
            </a:fld>
            <a:endParaRPr lang="uk-UA"/>
          </a:p>
        </p:txBody>
      </p:sp>
      <p:sp>
        <p:nvSpPr>
          <p:cNvPr id="4" name="Нижний колонтитул 3"/>
          <p:cNvSpPr>
            <a:spLocks noGrp="1"/>
          </p:cNvSpPr>
          <p:nvPr>
            <p:ph type="ftr" sz="quarter" idx="11"/>
          </p:nvPr>
        </p:nvSpPr>
        <p:spPr/>
        <p:txBody>
          <a:bodyPr/>
          <a:lstStyle/>
          <a:p>
            <a:endParaRPr lang="uk-UA"/>
          </a:p>
        </p:txBody>
      </p:sp>
      <p:sp>
        <p:nvSpPr>
          <p:cNvPr id="5" name="Номер слайда 4"/>
          <p:cNvSpPr>
            <a:spLocks noGrp="1"/>
          </p:cNvSpPr>
          <p:nvPr>
            <p:ph type="sldNum" sz="quarter" idx="12"/>
          </p:nvPr>
        </p:nvSpPr>
        <p:spPr/>
        <p:txBody>
          <a:bodyPr/>
          <a:lstStyle/>
          <a:p>
            <a:fld id="{A2CA1756-BFF8-42E0-BBFF-87283250869D}" type="slidenum">
              <a:rPr lang="uk-UA" smtClean="0"/>
              <a:t>‹#›</a:t>
            </a:fld>
            <a:endParaRPr lang="uk-UA"/>
          </a:p>
        </p:txBody>
      </p:sp>
    </p:spTree>
    <p:extLst>
      <p:ext uri="{BB962C8B-B14F-4D97-AF65-F5344CB8AC3E}">
        <p14:creationId xmlns:p14="http://schemas.microsoft.com/office/powerpoint/2010/main" val="29191415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55CE5003-25C1-4ECA-B6C6-8487FA663B89}" type="datetimeFigureOut">
              <a:rPr lang="uk-UA" smtClean="0"/>
              <a:t>17.10.2024</a:t>
            </a:fld>
            <a:endParaRPr lang="uk-UA"/>
          </a:p>
        </p:txBody>
      </p:sp>
      <p:sp>
        <p:nvSpPr>
          <p:cNvPr id="3" name="Нижний колонтитул 2"/>
          <p:cNvSpPr>
            <a:spLocks noGrp="1"/>
          </p:cNvSpPr>
          <p:nvPr>
            <p:ph type="ftr" sz="quarter" idx="11"/>
          </p:nvPr>
        </p:nvSpPr>
        <p:spPr/>
        <p:txBody>
          <a:bodyPr/>
          <a:lstStyle/>
          <a:p>
            <a:endParaRPr lang="uk-UA"/>
          </a:p>
        </p:txBody>
      </p:sp>
      <p:sp>
        <p:nvSpPr>
          <p:cNvPr id="4" name="Номер слайда 3"/>
          <p:cNvSpPr>
            <a:spLocks noGrp="1"/>
          </p:cNvSpPr>
          <p:nvPr>
            <p:ph type="sldNum" sz="quarter" idx="12"/>
          </p:nvPr>
        </p:nvSpPr>
        <p:spPr/>
        <p:txBody>
          <a:bodyPr/>
          <a:lstStyle/>
          <a:p>
            <a:fld id="{A2CA1756-BFF8-42E0-BBFF-87283250869D}" type="slidenum">
              <a:rPr lang="uk-UA" smtClean="0"/>
              <a:t>‹#›</a:t>
            </a:fld>
            <a:endParaRPr lang="uk-UA"/>
          </a:p>
        </p:txBody>
      </p:sp>
    </p:spTree>
    <p:extLst>
      <p:ext uri="{BB962C8B-B14F-4D97-AF65-F5344CB8AC3E}">
        <p14:creationId xmlns:p14="http://schemas.microsoft.com/office/powerpoint/2010/main" val="15003618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uk-UA"/>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uk-UA"/>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55CE5003-25C1-4ECA-B6C6-8487FA663B89}" type="datetimeFigureOut">
              <a:rPr lang="uk-UA" smtClean="0"/>
              <a:t>17.10.2024</a:t>
            </a:fld>
            <a:endParaRPr lang="uk-UA"/>
          </a:p>
        </p:txBody>
      </p:sp>
      <p:sp>
        <p:nvSpPr>
          <p:cNvPr id="6" name="Нижний колонтитул 5"/>
          <p:cNvSpPr>
            <a:spLocks noGrp="1"/>
          </p:cNvSpPr>
          <p:nvPr>
            <p:ph type="ftr" sz="quarter" idx="11"/>
          </p:nvPr>
        </p:nvSpPr>
        <p:spPr/>
        <p:txBody>
          <a:bodyPr/>
          <a:lstStyle/>
          <a:p>
            <a:endParaRPr lang="uk-UA"/>
          </a:p>
        </p:txBody>
      </p:sp>
      <p:sp>
        <p:nvSpPr>
          <p:cNvPr id="7" name="Номер слайда 6"/>
          <p:cNvSpPr>
            <a:spLocks noGrp="1"/>
          </p:cNvSpPr>
          <p:nvPr>
            <p:ph type="sldNum" sz="quarter" idx="12"/>
          </p:nvPr>
        </p:nvSpPr>
        <p:spPr/>
        <p:txBody>
          <a:bodyPr/>
          <a:lstStyle/>
          <a:p>
            <a:fld id="{A2CA1756-BFF8-42E0-BBFF-87283250869D}" type="slidenum">
              <a:rPr lang="uk-UA" smtClean="0"/>
              <a:t>‹#›</a:t>
            </a:fld>
            <a:endParaRPr lang="uk-UA"/>
          </a:p>
        </p:txBody>
      </p:sp>
    </p:spTree>
    <p:extLst>
      <p:ext uri="{BB962C8B-B14F-4D97-AF65-F5344CB8AC3E}">
        <p14:creationId xmlns:p14="http://schemas.microsoft.com/office/powerpoint/2010/main" val="2336467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uk-UA"/>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uk-UA"/>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55CE5003-25C1-4ECA-B6C6-8487FA663B89}" type="datetimeFigureOut">
              <a:rPr lang="uk-UA" smtClean="0"/>
              <a:t>17.10.2024</a:t>
            </a:fld>
            <a:endParaRPr lang="uk-UA"/>
          </a:p>
        </p:txBody>
      </p:sp>
      <p:sp>
        <p:nvSpPr>
          <p:cNvPr id="6" name="Нижний колонтитул 5"/>
          <p:cNvSpPr>
            <a:spLocks noGrp="1"/>
          </p:cNvSpPr>
          <p:nvPr>
            <p:ph type="ftr" sz="quarter" idx="11"/>
          </p:nvPr>
        </p:nvSpPr>
        <p:spPr/>
        <p:txBody>
          <a:bodyPr/>
          <a:lstStyle/>
          <a:p>
            <a:endParaRPr lang="uk-UA"/>
          </a:p>
        </p:txBody>
      </p:sp>
      <p:sp>
        <p:nvSpPr>
          <p:cNvPr id="7" name="Номер слайда 6"/>
          <p:cNvSpPr>
            <a:spLocks noGrp="1"/>
          </p:cNvSpPr>
          <p:nvPr>
            <p:ph type="sldNum" sz="quarter" idx="12"/>
          </p:nvPr>
        </p:nvSpPr>
        <p:spPr/>
        <p:txBody>
          <a:bodyPr/>
          <a:lstStyle/>
          <a:p>
            <a:fld id="{A2CA1756-BFF8-42E0-BBFF-87283250869D}" type="slidenum">
              <a:rPr lang="uk-UA" smtClean="0"/>
              <a:t>‹#›</a:t>
            </a:fld>
            <a:endParaRPr lang="uk-UA"/>
          </a:p>
        </p:txBody>
      </p:sp>
    </p:spTree>
    <p:extLst>
      <p:ext uri="{BB962C8B-B14F-4D97-AF65-F5344CB8AC3E}">
        <p14:creationId xmlns:p14="http://schemas.microsoft.com/office/powerpoint/2010/main" val="1148341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uk-UA"/>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uk-UA"/>
          </a:p>
        </p:txBody>
      </p:sp>
      <p:sp>
        <p:nvSpPr>
          <p:cNvPr id="4" name="Дата 3"/>
          <p:cNvSpPr>
            <a:spLocks noGrp="1"/>
          </p:cNvSpPr>
          <p:nvPr>
            <p:ph type="dt" sz="half" idx="10"/>
          </p:nvPr>
        </p:nvSpPr>
        <p:spPr/>
        <p:txBody>
          <a:bodyPr/>
          <a:lstStyle/>
          <a:p>
            <a:fld id="{55CE5003-25C1-4ECA-B6C6-8487FA663B89}" type="datetimeFigureOut">
              <a:rPr lang="uk-UA" smtClean="0"/>
              <a:t>17.10.2024</a:t>
            </a:fld>
            <a:endParaRPr lang="uk-UA"/>
          </a:p>
        </p:txBody>
      </p:sp>
      <p:sp>
        <p:nvSpPr>
          <p:cNvPr id="5" name="Нижний колонтитул 4"/>
          <p:cNvSpPr>
            <a:spLocks noGrp="1"/>
          </p:cNvSpPr>
          <p:nvPr>
            <p:ph type="ftr" sz="quarter" idx="11"/>
          </p:nvPr>
        </p:nvSpPr>
        <p:spPr/>
        <p:txBody>
          <a:bodyPr/>
          <a:lstStyle/>
          <a:p>
            <a:endParaRPr lang="uk-UA"/>
          </a:p>
        </p:txBody>
      </p:sp>
      <p:sp>
        <p:nvSpPr>
          <p:cNvPr id="6" name="Номер слайда 5"/>
          <p:cNvSpPr>
            <a:spLocks noGrp="1"/>
          </p:cNvSpPr>
          <p:nvPr>
            <p:ph type="sldNum" sz="quarter" idx="12"/>
          </p:nvPr>
        </p:nvSpPr>
        <p:spPr/>
        <p:txBody>
          <a:bodyPr/>
          <a:lstStyle/>
          <a:p>
            <a:fld id="{A2CA1756-BFF8-42E0-BBFF-87283250869D}" type="slidenum">
              <a:rPr lang="uk-UA" smtClean="0"/>
              <a:t>‹#›</a:t>
            </a:fld>
            <a:endParaRPr lang="uk-UA"/>
          </a:p>
        </p:txBody>
      </p:sp>
    </p:spTree>
    <p:extLst>
      <p:ext uri="{BB962C8B-B14F-4D97-AF65-F5344CB8AC3E}">
        <p14:creationId xmlns:p14="http://schemas.microsoft.com/office/powerpoint/2010/main" val="1958937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smtClean="0"/>
              <a:t>Образец заголовка</a:t>
            </a:r>
            <a:endParaRPr lang="uk-UA"/>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uk-UA"/>
          </a:p>
        </p:txBody>
      </p:sp>
      <p:sp>
        <p:nvSpPr>
          <p:cNvPr id="4" name="Дата 3"/>
          <p:cNvSpPr>
            <a:spLocks noGrp="1"/>
          </p:cNvSpPr>
          <p:nvPr>
            <p:ph type="dt" sz="half" idx="10"/>
          </p:nvPr>
        </p:nvSpPr>
        <p:spPr/>
        <p:txBody>
          <a:bodyPr/>
          <a:lstStyle/>
          <a:p>
            <a:fld id="{55CE5003-25C1-4ECA-B6C6-8487FA663B89}" type="datetimeFigureOut">
              <a:rPr lang="uk-UA" smtClean="0"/>
              <a:t>17.10.2024</a:t>
            </a:fld>
            <a:endParaRPr lang="uk-UA"/>
          </a:p>
        </p:txBody>
      </p:sp>
      <p:sp>
        <p:nvSpPr>
          <p:cNvPr id="5" name="Нижний колонтитул 4"/>
          <p:cNvSpPr>
            <a:spLocks noGrp="1"/>
          </p:cNvSpPr>
          <p:nvPr>
            <p:ph type="ftr" sz="quarter" idx="11"/>
          </p:nvPr>
        </p:nvSpPr>
        <p:spPr/>
        <p:txBody>
          <a:bodyPr/>
          <a:lstStyle/>
          <a:p>
            <a:endParaRPr lang="uk-UA"/>
          </a:p>
        </p:txBody>
      </p:sp>
      <p:sp>
        <p:nvSpPr>
          <p:cNvPr id="6" name="Номер слайда 5"/>
          <p:cNvSpPr>
            <a:spLocks noGrp="1"/>
          </p:cNvSpPr>
          <p:nvPr>
            <p:ph type="sldNum" sz="quarter" idx="12"/>
          </p:nvPr>
        </p:nvSpPr>
        <p:spPr/>
        <p:txBody>
          <a:bodyPr/>
          <a:lstStyle/>
          <a:p>
            <a:fld id="{A2CA1756-BFF8-42E0-BBFF-87283250869D}" type="slidenum">
              <a:rPr lang="uk-UA" smtClean="0"/>
              <a:t>‹#›</a:t>
            </a:fld>
            <a:endParaRPr lang="uk-UA"/>
          </a:p>
        </p:txBody>
      </p:sp>
    </p:spTree>
    <p:extLst>
      <p:ext uri="{BB962C8B-B14F-4D97-AF65-F5344CB8AC3E}">
        <p14:creationId xmlns:p14="http://schemas.microsoft.com/office/powerpoint/2010/main" val="28458876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smtClean="0"/>
              <a:t>Образец заголовка</a:t>
            </a:r>
            <a:endParaRPr lang="uk-UA"/>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uk-UA"/>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CE5003-25C1-4ECA-B6C6-8487FA663B89}" type="datetimeFigureOut">
              <a:rPr lang="uk-UA" smtClean="0"/>
              <a:t>17.10.2024</a:t>
            </a:fld>
            <a:endParaRPr lang="uk-UA"/>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uk-UA"/>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CA1756-BFF8-42E0-BBFF-87283250869D}" type="slidenum">
              <a:rPr lang="uk-UA" smtClean="0"/>
              <a:t>‹#›</a:t>
            </a:fld>
            <a:endParaRPr lang="uk-UA"/>
          </a:p>
        </p:txBody>
      </p:sp>
    </p:spTree>
    <p:extLst>
      <p:ext uri="{BB962C8B-B14F-4D97-AF65-F5344CB8AC3E}">
        <p14:creationId xmlns:p14="http://schemas.microsoft.com/office/powerpoint/2010/main" val="36155906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6" name="Picture 12" descr="https://mathhubtutorial.com/mathhub-2/wp-content/uploads/2019/10/50-Beautiful-and-Minimalist-Presentation-Backgrounds-08-1024x57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Заголовок 1"/>
          <p:cNvSpPr>
            <a:spLocks noGrp="1"/>
          </p:cNvSpPr>
          <p:nvPr>
            <p:ph type="ctrTitle"/>
          </p:nvPr>
        </p:nvSpPr>
        <p:spPr>
          <a:xfrm>
            <a:off x="1577163" y="526940"/>
            <a:ext cx="9144000" cy="1227432"/>
          </a:xfrm>
        </p:spPr>
        <p:txBody>
          <a:bodyPr/>
          <a:lstStyle/>
          <a:p>
            <a:r>
              <a:rPr lang="uk-UA" b="1" dirty="0" smtClean="0">
                <a:latin typeface="Times New Roman" panose="02020603050405020304" pitchFamily="18" charset="0"/>
                <a:cs typeface="Times New Roman" panose="02020603050405020304" pitchFamily="18" charset="0"/>
              </a:rPr>
              <a:t>Шаблони проєктування</a:t>
            </a:r>
            <a:endParaRPr lang="uk-UA" dirty="0">
              <a:latin typeface="Times New Roman" panose="02020603050405020304" pitchFamily="18" charset="0"/>
              <a:cs typeface="Times New Roman" panose="02020603050405020304" pitchFamily="18" charset="0"/>
            </a:endParaRPr>
          </a:p>
        </p:txBody>
      </p:sp>
      <p:sp>
        <p:nvSpPr>
          <p:cNvPr id="3" name="Подзаголовок 2"/>
          <p:cNvSpPr>
            <a:spLocks noGrp="1"/>
          </p:cNvSpPr>
          <p:nvPr>
            <p:ph type="subTitle" idx="1"/>
          </p:nvPr>
        </p:nvSpPr>
        <p:spPr>
          <a:xfrm>
            <a:off x="10912549" y="6140302"/>
            <a:ext cx="1279451" cy="717698"/>
          </a:xfrm>
        </p:spPr>
        <p:txBody>
          <a:bodyPr>
            <a:normAutofit fontScale="77500" lnSpcReduction="20000"/>
          </a:bodyPr>
          <a:lstStyle/>
          <a:p>
            <a:r>
              <a:rPr lang="uk-UA" dirty="0" smtClean="0">
                <a:solidFill>
                  <a:schemeClr val="tx1">
                    <a:lumMod val="50000"/>
                    <a:lumOff val="50000"/>
                  </a:schemeClr>
                </a:solidFill>
              </a:rPr>
              <a:t>Виконав Тімохін Данііл</a:t>
            </a:r>
            <a:endParaRPr lang="uk-UA" dirty="0">
              <a:solidFill>
                <a:schemeClr val="tx1">
                  <a:lumMod val="50000"/>
                  <a:lumOff val="50000"/>
                </a:schemeClr>
              </a:solidFill>
            </a:endParaRPr>
          </a:p>
        </p:txBody>
      </p:sp>
      <p:pic>
        <p:nvPicPr>
          <p:cNvPr id="4" name="Рисунок 3"/>
          <p:cNvPicPr>
            <a:picLocks noChangeAspect="1"/>
          </p:cNvPicPr>
          <p:nvPr/>
        </p:nvPicPr>
        <p:blipFill>
          <a:blip r:embed="rId3"/>
          <a:stretch>
            <a:fillRect/>
          </a:stretch>
        </p:blipFill>
        <p:spPr>
          <a:xfrm>
            <a:off x="549275" y="2304977"/>
            <a:ext cx="3674476" cy="2368624"/>
          </a:xfrm>
          <a:prstGeom prst="rect">
            <a:avLst/>
          </a:prstGeom>
          <a:ln w="88900" cap="sq" cmpd="thickThin">
            <a:solidFill>
              <a:srgbClr val="000000"/>
            </a:solidFill>
            <a:prstDash val="solid"/>
            <a:miter lim="800000"/>
          </a:ln>
          <a:effectLst>
            <a:innerShdw blurRad="76200">
              <a:srgbClr val="000000"/>
            </a:innerShdw>
          </a:effectLst>
        </p:spPr>
      </p:pic>
      <p:pic>
        <p:nvPicPr>
          <p:cNvPr id="5" name="Рисунок 4"/>
          <p:cNvPicPr>
            <a:picLocks noChangeAspect="1"/>
          </p:cNvPicPr>
          <p:nvPr/>
        </p:nvPicPr>
        <p:blipFill>
          <a:blip r:embed="rId4"/>
          <a:stretch>
            <a:fillRect/>
          </a:stretch>
        </p:blipFill>
        <p:spPr>
          <a:xfrm>
            <a:off x="4645989" y="2812977"/>
            <a:ext cx="3353535" cy="2368624"/>
          </a:xfrm>
          <a:prstGeom prst="rect">
            <a:avLst/>
          </a:prstGeom>
          <a:ln w="88900" cap="sq" cmpd="thickThin">
            <a:solidFill>
              <a:srgbClr val="000000"/>
            </a:solidFill>
            <a:prstDash val="solid"/>
            <a:miter lim="800000"/>
          </a:ln>
          <a:effectLst>
            <a:innerShdw blurRad="76200">
              <a:srgbClr val="000000"/>
            </a:innerShdw>
          </a:effectLst>
        </p:spPr>
      </p:pic>
      <p:pic>
        <p:nvPicPr>
          <p:cNvPr id="6" name="Рисунок 5"/>
          <p:cNvPicPr>
            <a:picLocks noChangeAspect="1"/>
          </p:cNvPicPr>
          <p:nvPr/>
        </p:nvPicPr>
        <p:blipFill>
          <a:blip r:embed="rId5"/>
          <a:stretch>
            <a:fillRect/>
          </a:stretch>
        </p:blipFill>
        <p:spPr>
          <a:xfrm>
            <a:off x="8421762" y="3489289"/>
            <a:ext cx="3176386" cy="2368624"/>
          </a:xfrm>
          <a:prstGeom prst="rect">
            <a:avLst/>
          </a:prstGeom>
          <a:ln w="88900" cap="sq" cmpd="thickThin">
            <a:solidFill>
              <a:srgbClr val="000000"/>
            </a:solidFill>
            <a:prstDash val="solid"/>
            <a:miter lim="800000"/>
          </a:ln>
          <a:effectLst>
            <a:innerShdw blurRad="76200">
              <a:srgbClr val="000000"/>
            </a:innerShdw>
          </a:effectLst>
        </p:spPr>
      </p:pic>
      <p:sp>
        <p:nvSpPr>
          <p:cNvPr id="8" name="TextBox 7"/>
          <p:cNvSpPr txBox="1"/>
          <p:nvPr/>
        </p:nvSpPr>
        <p:spPr>
          <a:xfrm>
            <a:off x="1409123" y="4824096"/>
            <a:ext cx="1827744" cy="400110"/>
          </a:xfrm>
          <a:prstGeom prst="rect">
            <a:avLst/>
          </a:prstGeom>
          <a:noFill/>
        </p:spPr>
        <p:txBody>
          <a:bodyPr wrap="none" rtlCol="0">
            <a:spAutoFit/>
          </a:bodyPr>
          <a:lstStyle/>
          <a:p>
            <a:r>
              <a:rPr lang="en-AU" sz="2000" dirty="0">
                <a:latin typeface="Times New Roman" panose="02020603050405020304" pitchFamily="18" charset="0"/>
                <a:cs typeface="Times New Roman" panose="02020603050405020304" pitchFamily="18" charset="0"/>
              </a:rPr>
              <a:t>Factory Method</a:t>
            </a:r>
            <a:endParaRPr lang="uk-UA" dirty="0">
              <a:latin typeface="Times New Roman" panose="02020603050405020304" pitchFamily="18" charset="0"/>
              <a:cs typeface="Times New Roman" panose="02020603050405020304" pitchFamily="18" charset="0"/>
            </a:endParaRPr>
          </a:p>
        </p:txBody>
      </p:sp>
      <p:sp>
        <p:nvSpPr>
          <p:cNvPr id="15" name="TextBox 14"/>
          <p:cNvSpPr txBox="1"/>
          <p:nvPr/>
        </p:nvSpPr>
        <p:spPr>
          <a:xfrm>
            <a:off x="5133969" y="5488581"/>
            <a:ext cx="2377574" cy="369332"/>
          </a:xfrm>
          <a:prstGeom prst="rect">
            <a:avLst/>
          </a:prstGeom>
          <a:noFill/>
        </p:spPr>
        <p:txBody>
          <a:bodyPr wrap="none" rtlCol="0">
            <a:spAutoFit/>
          </a:bodyPr>
          <a:lstStyle/>
          <a:p>
            <a:r>
              <a:rPr lang="en-US" dirty="0" smtClean="0">
                <a:latin typeface="Times New Roman" panose="02020603050405020304" pitchFamily="18" charset="0"/>
                <a:cs typeface="Times New Roman" panose="02020603050405020304" pitchFamily="18" charset="0"/>
              </a:rPr>
              <a:t>Chain of Responsibility</a:t>
            </a:r>
          </a:p>
        </p:txBody>
      </p:sp>
      <p:sp>
        <p:nvSpPr>
          <p:cNvPr id="16" name="TextBox 15"/>
          <p:cNvSpPr txBox="1"/>
          <p:nvPr/>
        </p:nvSpPr>
        <p:spPr>
          <a:xfrm>
            <a:off x="9417485" y="6173290"/>
            <a:ext cx="1184940" cy="369332"/>
          </a:xfrm>
          <a:prstGeom prst="rect">
            <a:avLst/>
          </a:prstGeom>
          <a:noFill/>
        </p:spPr>
        <p:txBody>
          <a:bodyPr wrap="none" rtlCol="0">
            <a:spAutoFit/>
          </a:bodyPr>
          <a:lstStyle/>
          <a:p>
            <a:r>
              <a:rPr lang="en-US" dirty="0" smtClean="0">
                <a:latin typeface="Times New Roman" panose="02020603050405020304" pitchFamily="18" charset="0"/>
                <a:cs typeface="Times New Roman" panose="02020603050405020304" pitchFamily="18" charset="0"/>
              </a:rPr>
              <a:t>Composite</a:t>
            </a:r>
            <a:endParaRPr lang="uk-UA"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214626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Factory Method</a:t>
            </a:r>
            <a:endParaRPr lang="uk-UA"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838200" y="1571625"/>
            <a:ext cx="7886700" cy="4351338"/>
          </a:xfrm>
        </p:spPr>
        <p:txBody>
          <a:bodyPr/>
          <a:lstStyle/>
          <a:p>
            <a:r>
              <a:rPr lang="en-US" dirty="0" smtClean="0">
                <a:latin typeface="Times New Roman" panose="02020603050405020304" pitchFamily="18" charset="0"/>
                <a:cs typeface="Times New Roman" panose="02020603050405020304" pitchFamily="18" charset="0"/>
              </a:rPr>
              <a:t>Factory Method, </a:t>
            </a:r>
            <a:r>
              <a:rPr lang="uk-UA" dirty="0" smtClean="0">
                <a:latin typeface="Times New Roman" panose="02020603050405020304" pitchFamily="18" charset="0"/>
                <a:cs typeface="Times New Roman" panose="02020603050405020304" pitchFamily="18" charset="0"/>
              </a:rPr>
              <a:t>також відомий як Фабричний метод- це</a:t>
            </a:r>
            <a:r>
              <a:rPr lang="en-US" dirty="0" smtClean="0">
                <a:latin typeface="Times New Roman" panose="02020603050405020304" pitchFamily="18" charset="0"/>
                <a:cs typeface="Times New Roman" panose="02020603050405020304" pitchFamily="18" charset="0"/>
              </a:rPr>
              <a:t> </a:t>
            </a:r>
            <a:r>
              <a:rPr lang="uk-UA" dirty="0" smtClean="0">
                <a:latin typeface="Times New Roman" panose="02020603050405020304" pitchFamily="18" charset="0"/>
                <a:cs typeface="Times New Roman" panose="02020603050405020304" pitchFamily="18" charset="0"/>
              </a:rPr>
              <a:t>породжувальний шаблон проєктування,</a:t>
            </a:r>
            <a:r>
              <a:rPr lang="en-US" dirty="0" smtClean="0">
                <a:latin typeface="Times New Roman" panose="02020603050405020304" pitchFamily="18" charset="0"/>
                <a:cs typeface="Times New Roman" panose="02020603050405020304" pitchFamily="18" charset="0"/>
              </a:rPr>
              <a:t> </a:t>
            </a:r>
            <a:r>
              <a:rPr lang="uk-UA" dirty="0" smtClean="0">
                <a:latin typeface="Times New Roman" panose="02020603050405020304" pitchFamily="18" charset="0"/>
                <a:cs typeface="Times New Roman" panose="02020603050405020304" pitchFamily="18" charset="0"/>
              </a:rPr>
              <a:t>який полягає у створенні загального інтерфейсу з підкласами. </a:t>
            </a:r>
            <a:endParaRPr lang="en-US" dirty="0" smtClean="0">
              <a:latin typeface="Times New Roman" panose="02020603050405020304" pitchFamily="18" charset="0"/>
              <a:cs typeface="Times New Roman" panose="02020603050405020304" pitchFamily="18" charset="0"/>
            </a:endParaRPr>
          </a:p>
        </p:txBody>
      </p:sp>
      <p:pic>
        <p:nvPicPr>
          <p:cNvPr id="2050" name="Picture 2" descr="Factory Design Pattern"/>
          <p:cNvPicPr>
            <a:picLocks noChangeAspect="1" noChangeArrowheads="1"/>
          </p:cNvPicPr>
          <p:nvPr/>
        </p:nvPicPr>
        <p:blipFill rotWithShape="1">
          <a:blip r:embed="rId2">
            <a:extLst>
              <a:ext uri="{28A0092B-C50C-407E-A947-70E740481C1C}">
                <a14:useLocalDpi xmlns:a14="http://schemas.microsoft.com/office/drawing/2010/main" val="0"/>
              </a:ext>
            </a:extLst>
          </a:blip>
          <a:srcRect t="34500"/>
          <a:stretch/>
        </p:blipFill>
        <p:spPr bwMode="auto">
          <a:xfrm>
            <a:off x="7254875" y="2959100"/>
            <a:ext cx="4762500" cy="3119438"/>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4" name="Прямоугольник 3"/>
          <p:cNvSpPr/>
          <p:nvPr/>
        </p:nvSpPr>
        <p:spPr>
          <a:xfrm>
            <a:off x="1074738" y="3276928"/>
            <a:ext cx="6197600" cy="1815882"/>
          </a:xfrm>
          <a:prstGeom prst="rect">
            <a:avLst/>
          </a:prstGeom>
        </p:spPr>
        <p:txBody>
          <a:bodyPr wrap="square">
            <a:spAutoFit/>
          </a:bodyPr>
          <a:lstStyle/>
          <a:p>
            <a:r>
              <a:rPr lang="uk-UA" sz="2800" dirty="0" smtClean="0">
                <a:latin typeface="Times New Roman" panose="02020603050405020304" pitchFamily="18" charset="0"/>
                <a:cs typeface="Times New Roman" panose="02020603050405020304" pitchFamily="18" charset="0"/>
              </a:rPr>
              <a:t>Кожен </a:t>
            </a:r>
            <a:r>
              <a:rPr lang="uk-UA" sz="2800" dirty="0">
                <a:latin typeface="Times New Roman" panose="02020603050405020304" pitchFamily="18" charset="0"/>
                <a:cs typeface="Times New Roman" panose="02020603050405020304" pitchFamily="18" charset="0"/>
              </a:rPr>
              <a:t>підклас відповідає за створення об’єкту свого типу, але сам процес створення об’єкту описується в загальному </a:t>
            </a:r>
            <a:r>
              <a:rPr lang="uk-UA" sz="2800" dirty="0">
                <a:latin typeface="Times New Roman" panose="02020603050405020304" pitchFamily="18" charset="0"/>
                <a:cs typeface="Times New Roman" panose="02020603050405020304" pitchFamily="18" charset="0"/>
              </a:rPr>
              <a:t>інтерфейсі.</a:t>
            </a:r>
            <a:endParaRPr lang="uk-UA"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533128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smtClean="0">
                <a:latin typeface="Times New Roman" panose="02020603050405020304" pitchFamily="18" charset="0"/>
                <a:cs typeface="Times New Roman" panose="02020603050405020304" pitchFamily="18" charset="0"/>
              </a:rPr>
              <a:t>Детальніше про фабричний метод</a:t>
            </a:r>
            <a:endParaRPr lang="uk-UA"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719138" y="1718468"/>
            <a:ext cx="7543800" cy="4351338"/>
          </a:xfrm>
        </p:spPr>
        <p:txBody>
          <a:bodyPr>
            <a:noAutofit/>
          </a:bodyPr>
          <a:lstStyle/>
          <a:p>
            <a:r>
              <a:rPr lang="uk-UA" sz="2600" dirty="0">
                <a:latin typeface="Times New Roman" panose="02020603050405020304" pitchFamily="18" charset="0"/>
                <a:cs typeface="Times New Roman" panose="02020603050405020304" pitchFamily="18" charset="0"/>
              </a:rPr>
              <a:t>На першому етапі створюється абстрактний інтерфейс або клас, який буде містити метод для створення об'єктів. У цьому класі визначається загальний процес створення об'єкта, але не зазначено, який конкретний об'єкт буде створено.</a:t>
            </a:r>
          </a:p>
          <a:p>
            <a:r>
              <a:rPr lang="uk-UA" sz="2600" dirty="0">
                <a:latin typeface="Times New Roman" panose="02020603050405020304" pitchFamily="18" charset="0"/>
                <a:cs typeface="Times New Roman" panose="02020603050405020304" pitchFamily="18" charset="0"/>
              </a:rPr>
              <a:t>Щоб гарантувати, що всі створювані об'єкти відповідають одному типу, визначається інтерфейс або абстрактний клас для цих об'єктів.</a:t>
            </a:r>
          </a:p>
          <a:p>
            <a:r>
              <a:rPr lang="uk-UA" sz="2600" dirty="0">
                <a:latin typeface="Times New Roman" panose="02020603050405020304" pitchFamily="18" charset="0"/>
                <a:cs typeface="Times New Roman" panose="02020603050405020304" pitchFamily="18" charset="0"/>
              </a:rPr>
              <a:t>Потім створюються підкласи, кожен з яких реалізує цей метод і визначає, який тип об'єкта буде створюватися. Це дозволяє підкласам вирішувати, яку конкретну реалізацію об'єкта вони хочуть створити.</a:t>
            </a:r>
          </a:p>
        </p:txBody>
      </p:sp>
      <p:pic>
        <p:nvPicPr>
          <p:cNvPr id="4" name="Рисунок 3"/>
          <p:cNvPicPr>
            <a:picLocks noChangeAspect="1"/>
          </p:cNvPicPr>
          <p:nvPr/>
        </p:nvPicPr>
        <p:blipFill>
          <a:blip r:embed="rId2"/>
          <a:stretch>
            <a:fillRect/>
          </a:stretch>
        </p:blipFill>
        <p:spPr>
          <a:xfrm>
            <a:off x="9185275" y="1193977"/>
            <a:ext cx="2981325" cy="1162050"/>
          </a:xfrm>
          <a:prstGeom prst="rect">
            <a:avLst/>
          </a:prstGeom>
        </p:spPr>
      </p:pic>
      <p:pic>
        <p:nvPicPr>
          <p:cNvPr id="5" name="Рисунок 4"/>
          <p:cNvPicPr>
            <a:picLocks noChangeAspect="1"/>
          </p:cNvPicPr>
          <p:nvPr/>
        </p:nvPicPr>
        <p:blipFill>
          <a:blip r:embed="rId3"/>
          <a:stretch>
            <a:fillRect/>
          </a:stretch>
        </p:blipFill>
        <p:spPr>
          <a:xfrm>
            <a:off x="9785350" y="5855493"/>
            <a:ext cx="2428875" cy="428625"/>
          </a:xfrm>
          <a:prstGeom prst="rect">
            <a:avLst/>
          </a:prstGeom>
        </p:spPr>
      </p:pic>
      <p:pic>
        <p:nvPicPr>
          <p:cNvPr id="6" name="Рисунок 5"/>
          <p:cNvPicPr>
            <a:picLocks noChangeAspect="1"/>
          </p:cNvPicPr>
          <p:nvPr/>
        </p:nvPicPr>
        <p:blipFill>
          <a:blip r:embed="rId4"/>
          <a:stretch>
            <a:fillRect/>
          </a:stretch>
        </p:blipFill>
        <p:spPr>
          <a:xfrm>
            <a:off x="9782175" y="6388099"/>
            <a:ext cx="2409825" cy="419100"/>
          </a:xfrm>
          <a:prstGeom prst="rect">
            <a:avLst/>
          </a:prstGeom>
        </p:spPr>
      </p:pic>
      <p:pic>
        <p:nvPicPr>
          <p:cNvPr id="7" name="Рисунок 6"/>
          <p:cNvPicPr>
            <a:picLocks noChangeAspect="1"/>
          </p:cNvPicPr>
          <p:nvPr/>
        </p:nvPicPr>
        <p:blipFill>
          <a:blip r:embed="rId5"/>
          <a:stretch>
            <a:fillRect/>
          </a:stretch>
        </p:blipFill>
        <p:spPr>
          <a:xfrm>
            <a:off x="9185275" y="4106727"/>
            <a:ext cx="2143125" cy="1333500"/>
          </a:xfrm>
          <a:prstGeom prst="rect">
            <a:avLst/>
          </a:prstGeom>
        </p:spPr>
      </p:pic>
      <p:pic>
        <p:nvPicPr>
          <p:cNvPr id="8" name="Рисунок 7"/>
          <p:cNvPicPr>
            <a:picLocks noChangeAspect="1"/>
          </p:cNvPicPr>
          <p:nvPr/>
        </p:nvPicPr>
        <p:blipFill>
          <a:blip r:embed="rId6"/>
          <a:stretch>
            <a:fillRect/>
          </a:stretch>
        </p:blipFill>
        <p:spPr>
          <a:xfrm>
            <a:off x="10226600" y="2571126"/>
            <a:ext cx="1927299" cy="613753"/>
          </a:xfrm>
          <a:prstGeom prst="rect">
            <a:avLst/>
          </a:prstGeom>
        </p:spPr>
      </p:pic>
      <p:pic>
        <p:nvPicPr>
          <p:cNvPr id="9" name="Рисунок 8"/>
          <p:cNvPicPr>
            <a:picLocks noChangeAspect="1"/>
          </p:cNvPicPr>
          <p:nvPr/>
        </p:nvPicPr>
        <p:blipFill>
          <a:blip r:embed="rId7"/>
          <a:stretch>
            <a:fillRect/>
          </a:stretch>
        </p:blipFill>
        <p:spPr>
          <a:xfrm>
            <a:off x="10245882" y="3277875"/>
            <a:ext cx="1908018" cy="613087"/>
          </a:xfrm>
          <a:prstGeom prst="rect">
            <a:avLst/>
          </a:prstGeom>
        </p:spPr>
      </p:pic>
      <p:cxnSp>
        <p:nvCxnSpPr>
          <p:cNvPr id="13" name="Соединительная линия уступом 12"/>
          <p:cNvCxnSpPr>
            <a:endCxn id="24" idx="3"/>
          </p:cNvCxnSpPr>
          <p:nvPr/>
        </p:nvCxnSpPr>
        <p:spPr>
          <a:xfrm rot="16200000" flipH="1">
            <a:off x="9488932" y="2874699"/>
            <a:ext cx="1226418" cy="189078"/>
          </a:xfrm>
          <a:prstGeom prst="bentConnector2">
            <a:avLst/>
          </a:prstGeom>
        </p:spPr>
        <p:style>
          <a:lnRef idx="1">
            <a:schemeClr val="dk1"/>
          </a:lnRef>
          <a:fillRef idx="0">
            <a:schemeClr val="dk1"/>
          </a:fillRef>
          <a:effectRef idx="0">
            <a:schemeClr val="dk1"/>
          </a:effectRef>
          <a:fontRef idx="minor">
            <a:schemeClr val="tx1"/>
          </a:fontRef>
        </p:style>
      </p:cxnSp>
      <p:cxnSp>
        <p:nvCxnSpPr>
          <p:cNvPr id="17" name="Соединительная линия уступом 16"/>
          <p:cNvCxnSpPr>
            <a:endCxn id="21" idx="3"/>
          </p:cNvCxnSpPr>
          <p:nvPr/>
        </p:nvCxnSpPr>
        <p:spPr>
          <a:xfrm rot="16200000" flipH="1">
            <a:off x="9829201" y="2531228"/>
            <a:ext cx="545880" cy="189079"/>
          </a:xfrm>
          <a:prstGeom prst="bentConnector2">
            <a:avLst/>
          </a:prstGeom>
        </p:spPr>
        <p:style>
          <a:lnRef idx="1">
            <a:schemeClr val="dk1"/>
          </a:lnRef>
          <a:fillRef idx="0">
            <a:schemeClr val="dk1"/>
          </a:fillRef>
          <a:effectRef idx="0">
            <a:schemeClr val="dk1"/>
          </a:effectRef>
          <a:fontRef idx="minor">
            <a:schemeClr val="tx1"/>
          </a:fontRef>
        </p:style>
      </p:cxnSp>
      <p:sp>
        <p:nvSpPr>
          <p:cNvPr id="21" name="Равнобедренный треугольник 20"/>
          <p:cNvSpPr/>
          <p:nvPr/>
        </p:nvSpPr>
        <p:spPr>
          <a:xfrm rot="5400000">
            <a:off x="10195969" y="2875848"/>
            <a:ext cx="47142" cy="45719"/>
          </a:xfrm>
          <a:prstGeom prst="triangl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uk-UA"/>
          </a:p>
        </p:txBody>
      </p:sp>
      <p:sp>
        <p:nvSpPr>
          <p:cNvPr id="24" name="Равнобедренный треугольник 23"/>
          <p:cNvSpPr/>
          <p:nvPr/>
        </p:nvSpPr>
        <p:spPr>
          <a:xfrm rot="5400000">
            <a:off x="10195968" y="3559587"/>
            <a:ext cx="47142" cy="45719"/>
          </a:xfrm>
          <a:prstGeom prst="triangl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uk-UA"/>
          </a:p>
        </p:txBody>
      </p:sp>
      <p:cxnSp>
        <p:nvCxnSpPr>
          <p:cNvPr id="27" name="Прямая со стрелкой 26"/>
          <p:cNvCxnSpPr/>
          <p:nvPr/>
        </p:nvCxnSpPr>
        <p:spPr>
          <a:xfrm>
            <a:off x="9654363" y="2352827"/>
            <a:ext cx="0" cy="17539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Соединительная линия уступом 27"/>
          <p:cNvCxnSpPr>
            <a:endCxn id="31" idx="3"/>
          </p:cNvCxnSpPr>
          <p:nvPr/>
        </p:nvCxnSpPr>
        <p:spPr>
          <a:xfrm rot="16200000" flipH="1">
            <a:off x="9036401" y="5948135"/>
            <a:ext cx="1208019" cy="192202"/>
          </a:xfrm>
          <a:prstGeom prst="bentConnector2">
            <a:avLst/>
          </a:prstGeom>
        </p:spPr>
        <p:style>
          <a:lnRef idx="1">
            <a:schemeClr val="dk1"/>
          </a:lnRef>
          <a:fillRef idx="0">
            <a:schemeClr val="dk1"/>
          </a:fillRef>
          <a:effectRef idx="0">
            <a:schemeClr val="dk1"/>
          </a:effectRef>
          <a:fontRef idx="minor">
            <a:schemeClr val="tx1"/>
          </a:fontRef>
        </p:style>
      </p:cxnSp>
      <p:cxnSp>
        <p:nvCxnSpPr>
          <p:cNvPr id="29" name="Соединительная линия уступом 28"/>
          <p:cNvCxnSpPr>
            <a:endCxn id="30" idx="3"/>
          </p:cNvCxnSpPr>
          <p:nvPr/>
        </p:nvCxnSpPr>
        <p:spPr>
          <a:xfrm rot="16200000" flipH="1">
            <a:off x="9321486" y="5659931"/>
            <a:ext cx="634728" cy="195320"/>
          </a:xfrm>
          <a:prstGeom prst="bentConnector2">
            <a:avLst/>
          </a:prstGeom>
        </p:spPr>
        <p:style>
          <a:lnRef idx="1">
            <a:schemeClr val="dk1"/>
          </a:lnRef>
          <a:fillRef idx="0">
            <a:schemeClr val="dk1"/>
          </a:fillRef>
          <a:effectRef idx="0">
            <a:schemeClr val="dk1"/>
          </a:effectRef>
          <a:fontRef idx="minor">
            <a:schemeClr val="tx1"/>
          </a:fontRef>
        </p:style>
      </p:cxnSp>
      <p:sp>
        <p:nvSpPr>
          <p:cNvPr id="30" name="Равнобедренный треугольник 29"/>
          <p:cNvSpPr/>
          <p:nvPr/>
        </p:nvSpPr>
        <p:spPr>
          <a:xfrm rot="5400000">
            <a:off x="9735798" y="6052095"/>
            <a:ext cx="47142" cy="45719"/>
          </a:xfrm>
          <a:prstGeom prst="triangl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uk-UA"/>
          </a:p>
        </p:txBody>
      </p:sp>
      <p:sp>
        <p:nvSpPr>
          <p:cNvPr id="31" name="Равнобедренный треугольник 30"/>
          <p:cNvSpPr/>
          <p:nvPr/>
        </p:nvSpPr>
        <p:spPr>
          <a:xfrm rot="5400000">
            <a:off x="9735799" y="6625386"/>
            <a:ext cx="47142" cy="45719"/>
          </a:xfrm>
          <a:prstGeom prst="triangl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uk-UA"/>
          </a:p>
        </p:txBody>
      </p:sp>
    </p:spTree>
    <p:extLst>
      <p:ext uri="{BB962C8B-B14F-4D97-AF65-F5344CB8AC3E}">
        <p14:creationId xmlns:p14="http://schemas.microsoft.com/office/powerpoint/2010/main" val="2530323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1+#ppt_w/2"/>
                                          </p:val>
                                        </p:tav>
                                        <p:tav tm="100000">
                                          <p:val>
                                            <p:strVal val="#ppt_x"/>
                                          </p:val>
                                        </p:tav>
                                      </p:tavLst>
                                    </p:anim>
                                    <p:anim calcmode="lin" valueType="num">
                                      <p:cBhvr additive="base">
                                        <p:cTn id="13" dur="500" fill="hold"/>
                                        <p:tgtEl>
                                          <p:spTgt spid="8"/>
                                        </p:tgtEl>
                                        <p:attrNameLst>
                                          <p:attrName>ppt_y</p:attrName>
                                        </p:attrNameLst>
                                      </p:cBhvr>
                                      <p:tavLst>
                                        <p:tav tm="0">
                                          <p:val>
                                            <p:strVal val="#ppt_y"/>
                                          </p:val>
                                        </p:tav>
                                        <p:tav tm="100000">
                                          <p:val>
                                            <p:strVal val="#ppt_y"/>
                                          </p:val>
                                        </p:tav>
                                      </p:tavLst>
                                    </p:anim>
                                  </p:childTnLst>
                                </p:cTn>
                              </p:par>
                              <p:par>
                                <p:cTn id="14" presetID="2" presetClass="entr" presetSubtype="2"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additive="base">
                                        <p:cTn id="16" dur="500" fill="hold"/>
                                        <p:tgtEl>
                                          <p:spTgt spid="9"/>
                                        </p:tgtEl>
                                        <p:attrNameLst>
                                          <p:attrName>ppt_x</p:attrName>
                                        </p:attrNameLst>
                                      </p:cBhvr>
                                      <p:tavLst>
                                        <p:tav tm="0">
                                          <p:val>
                                            <p:strVal val="1+#ppt_w/2"/>
                                          </p:val>
                                        </p:tav>
                                        <p:tav tm="100000">
                                          <p:val>
                                            <p:strVal val="#ppt_x"/>
                                          </p:val>
                                        </p:tav>
                                      </p:tavLst>
                                    </p:anim>
                                    <p:anim calcmode="lin" valueType="num">
                                      <p:cBhvr additive="base">
                                        <p:cTn id="17"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1+#ppt_w/2"/>
                                          </p:val>
                                        </p:tav>
                                        <p:tav tm="100000">
                                          <p:val>
                                            <p:strVal val="#ppt_x"/>
                                          </p:val>
                                        </p:tav>
                                      </p:tavLst>
                                    </p:anim>
                                    <p:anim calcmode="lin" valueType="num">
                                      <p:cBhvr additive="base">
                                        <p:cTn id="23"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anim calcmode="lin" valueType="num">
                                      <p:cBhvr additive="base">
                                        <p:cTn id="28" dur="500" fill="hold"/>
                                        <p:tgtEl>
                                          <p:spTgt spid="5"/>
                                        </p:tgtEl>
                                        <p:attrNameLst>
                                          <p:attrName>ppt_x</p:attrName>
                                        </p:attrNameLst>
                                      </p:cBhvr>
                                      <p:tavLst>
                                        <p:tav tm="0">
                                          <p:val>
                                            <p:strVal val="1+#ppt_w/2"/>
                                          </p:val>
                                        </p:tav>
                                        <p:tav tm="100000">
                                          <p:val>
                                            <p:strVal val="#ppt_x"/>
                                          </p:val>
                                        </p:tav>
                                      </p:tavLst>
                                    </p:anim>
                                    <p:anim calcmode="lin" valueType="num">
                                      <p:cBhvr additive="base">
                                        <p:cTn id="29" dur="500" fill="hold"/>
                                        <p:tgtEl>
                                          <p:spTgt spid="5"/>
                                        </p:tgtEl>
                                        <p:attrNameLst>
                                          <p:attrName>ppt_y</p:attrName>
                                        </p:attrNameLst>
                                      </p:cBhvr>
                                      <p:tavLst>
                                        <p:tav tm="0">
                                          <p:val>
                                            <p:strVal val="#ppt_y"/>
                                          </p:val>
                                        </p:tav>
                                        <p:tav tm="100000">
                                          <p:val>
                                            <p:strVal val="#ppt_y"/>
                                          </p:val>
                                        </p:tav>
                                      </p:tavLst>
                                    </p:anim>
                                  </p:childTnLst>
                                </p:cTn>
                              </p:par>
                              <p:par>
                                <p:cTn id="30" presetID="2" presetClass="entr" presetSubtype="2" fill="hold" nodeType="with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additive="base">
                                        <p:cTn id="32" dur="500" fill="hold"/>
                                        <p:tgtEl>
                                          <p:spTgt spid="6"/>
                                        </p:tgtEl>
                                        <p:attrNameLst>
                                          <p:attrName>ppt_x</p:attrName>
                                        </p:attrNameLst>
                                      </p:cBhvr>
                                      <p:tavLst>
                                        <p:tav tm="0">
                                          <p:val>
                                            <p:strVal val="1+#ppt_w/2"/>
                                          </p:val>
                                        </p:tav>
                                        <p:tav tm="100000">
                                          <p:val>
                                            <p:strVal val="#ppt_x"/>
                                          </p:val>
                                        </p:tav>
                                      </p:tavLst>
                                    </p:anim>
                                    <p:anim calcmode="lin" valueType="num">
                                      <p:cBhvr additive="base">
                                        <p:cTn id="33"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wipe(up)">
                                      <p:cBhvr>
                                        <p:cTn id="38" dur="500"/>
                                        <p:tgtEl>
                                          <p:spTgt spid="13"/>
                                        </p:tgtEl>
                                      </p:cBhvr>
                                    </p:animEffect>
                                  </p:childTnLst>
                                </p:cTn>
                              </p:par>
                              <p:par>
                                <p:cTn id="39" presetID="22" presetClass="entr" presetSubtype="1" fill="hold"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wipe(up)">
                                      <p:cBhvr>
                                        <p:cTn id="41" dur="500"/>
                                        <p:tgtEl>
                                          <p:spTgt spid="17"/>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wipe(up)">
                                      <p:cBhvr>
                                        <p:cTn id="44" dur="500"/>
                                        <p:tgtEl>
                                          <p:spTgt spid="21"/>
                                        </p:tgtEl>
                                      </p:cBhvr>
                                    </p:animEffect>
                                  </p:childTnLst>
                                </p:cTn>
                              </p:par>
                              <p:par>
                                <p:cTn id="45" presetID="22" presetClass="entr" presetSubtype="1"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wipe(up)">
                                      <p:cBhvr>
                                        <p:cTn id="47" dur="500"/>
                                        <p:tgtEl>
                                          <p:spTgt spid="24"/>
                                        </p:tgtEl>
                                      </p:cBhvr>
                                    </p:animEffect>
                                  </p:childTnLst>
                                </p:cTn>
                              </p:par>
                              <p:par>
                                <p:cTn id="48" presetID="22" presetClass="entr" presetSubtype="1" fill="hold" nodeType="withEffect">
                                  <p:stCondLst>
                                    <p:cond delay="0"/>
                                  </p:stCondLst>
                                  <p:childTnLst>
                                    <p:set>
                                      <p:cBhvr>
                                        <p:cTn id="49" dur="1" fill="hold">
                                          <p:stCondLst>
                                            <p:cond delay="0"/>
                                          </p:stCondLst>
                                        </p:cTn>
                                        <p:tgtEl>
                                          <p:spTgt spid="27"/>
                                        </p:tgtEl>
                                        <p:attrNameLst>
                                          <p:attrName>style.visibility</p:attrName>
                                        </p:attrNameLst>
                                      </p:cBhvr>
                                      <p:to>
                                        <p:strVal val="visible"/>
                                      </p:to>
                                    </p:set>
                                    <p:animEffect transition="in" filter="wipe(up)">
                                      <p:cBhvr>
                                        <p:cTn id="50" dur="500"/>
                                        <p:tgtEl>
                                          <p:spTgt spid="27"/>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nodeType="click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wipe(up)">
                                      <p:cBhvr>
                                        <p:cTn id="55" dur="500"/>
                                        <p:tgtEl>
                                          <p:spTgt spid="28"/>
                                        </p:tgtEl>
                                      </p:cBhvr>
                                    </p:animEffect>
                                  </p:childTnLst>
                                </p:cTn>
                              </p:par>
                              <p:par>
                                <p:cTn id="56" presetID="22" presetClass="entr" presetSubtype="1" fill="hold" nodeType="withEffect">
                                  <p:stCondLst>
                                    <p:cond delay="0"/>
                                  </p:stCondLst>
                                  <p:childTnLst>
                                    <p:set>
                                      <p:cBhvr>
                                        <p:cTn id="57" dur="1" fill="hold">
                                          <p:stCondLst>
                                            <p:cond delay="0"/>
                                          </p:stCondLst>
                                        </p:cTn>
                                        <p:tgtEl>
                                          <p:spTgt spid="29"/>
                                        </p:tgtEl>
                                        <p:attrNameLst>
                                          <p:attrName>style.visibility</p:attrName>
                                        </p:attrNameLst>
                                      </p:cBhvr>
                                      <p:to>
                                        <p:strVal val="visible"/>
                                      </p:to>
                                    </p:set>
                                    <p:animEffect transition="in" filter="wipe(up)">
                                      <p:cBhvr>
                                        <p:cTn id="58" dur="500"/>
                                        <p:tgtEl>
                                          <p:spTgt spid="29"/>
                                        </p:tgtEl>
                                      </p:cBhvr>
                                    </p:animEffect>
                                  </p:childTnLst>
                                </p:cTn>
                              </p:par>
                              <p:par>
                                <p:cTn id="59" presetID="22" presetClass="entr" presetSubtype="1" fill="hold" grpId="0" nodeType="withEffect">
                                  <p:stCondLst>
                                    <p:cond delay="0"/>
                                  </p:stCondLst>
                                  <p:childTnLst>
                                    <p:set>
                                      <p:cBhvr>
                                        <p:cTn id="60" dur="1" fill="hold">
                                          <p:stCondLst>
                                            <p:cond delay="0"/>
                                          </p:stCondLst>
                                        </p:cTn>
                                        <p:tgtEl>
                                          <p:spTgt spid="30"/>
                                        </p:tgtEl>
                                        <p:attrNameLst>
                                          <p:attrName>style.visibility</p:attrName>
                                        </p:attrNameLst>
                                      </p:cBhvr>
                                      <p:to>
                                        <p:strVal val="visible"/>
                                      </p:to>
                                    </p:set>
                                    <p:animEffect transition="in" filter="wipe(up)">
                                      <p:cBhvr>
                                        <p:cTn id="61" dur="500"/>
                                        <p:tgtEl>
                                          <p:spTgt spid="30"/>
                                        </p:tgtEl>
                                      </p:cBhvr>
                                    </p:animEffect>
                                  </p:childTnLst>
                                </p:cTn>
                              </p:par>
                              <p:par>
                                <p:cTn id="62" presetID="22" presetClass="entr" presetSubtype="1" fill="hold" grpId="0" nodeType="withEffect">
                                  <p:stCondLst>
                                    <p:cond delay="0"/>
                                  </p:stCondLst>
                                  <p:childTnLst>
                                    <p:set>
                                      <p:cBhvr>
                                        <p:cTn id="63" dur="1" fill="hold">
                                          <p:stCondLst>
                                            <p:cond delay="0"/>
                                          </p:stCondLst>
                                        </p:cTn>
                                        <p:tgtEl>
                                          <p:spTgt spid="31"/>
                                        </p:tgtEl>
                                        <p:attrNameLst>
                                          <p:attrName>style.visibility</p:attrName>
                                        </p:attrNameLst>
                                      </p:cBhvr>
                                      <p:to>
                                        <p:strVal val="visible"/>
                                      </p:to>
                                    </p:set>
                                    <p:animEffect transition="in" filter="wipe(up)">
                                      <p:cBhvr>
                                        <p:cTn id="64"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4" grpId="0" animBg="1"/>
      <p:bldP spid="30" grpId="0" animBg="1"/>
      <p:bldP spid="3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smtClean="0">
                <a:latin typeface="Times New Roman" panose="02020603050405020304" pitchFamily="18" charset="0"/>
                <a:cs typeface="Times New Roman" panose="02020603050405020304" pitchFamily="18" charset="0"/>
              </a:rPr>
              <a:t>Використання</a:t>
            </a:r>
            <a:endParaRPr lang="uk-UA"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p:txBody>
          <a:bodyPr/>
          <a:lstStyle/>
          <a:p>
            <a:r>
              <a:rPr lang="uk-UA" dirty="0" smtClean="0">
                <a:latin typeface="Times New Roman" panose="02020603050405020304" pitchFamily="18" charset="0"/>
                <a:cs typeface="Times New Roman" panose="02020603050405020304" pitchFamily="18" charset="0"/>
              </a:rPr>
              <a:t>Перш за все, цей шаблон корисний тим, що не треба прив’язувати код до класів створюваних об’єктів. За допомогою цього можна вносити зміни до класів створюваних об’єктів не змінюючи основний код, який ці об’єкти використовує. Така модульність дуже корисна у тих випадках, коли треба регулярно вносити зміни до класів об’єкта або коли треба вносити нові класи і видаляти старі.</a:t>
            </a:r>
            <a:endParaRPr lang="uk-UA" dirty="0">
              <a:latin typeface="Times New Roman" panose="02020603050405020304" pitchFamily="18" charset="0"/>
              <a:cs typeface="Times New Roman" panose="02020603050405020304" pitchFamily="18" charset="0"/>
            </a:endParaRPr>
          </a:p>
        </p:txBody>
      </p:sp>
      <p:pic>
        <p:nvPicPr>
          <p:cNvPr id="4" name="Рисунок 3"/>
          <p:cNvPicPr>
            <a:picLocks noChangeAspect="1"/>
          </p:cNvPicPr>
          <p:nvPr/>
        </p:nvPicPr>
        <p:blipFill>
          <a:blip r:embed="rId2"/>
          <a:stretch>
            <a:fillRect/>
          </a:stretch>
        </p:blipFill>
        <p:spPr>
          <a:xfrm>
            <a:off x="5192712" y="4001294"/>
            <a:ext cx="6505575" cy="3114675"/>
          </a:xfrm>
          <a:prstGeom prst="rect">
            <a:avLst/>
          </a:prstGeom>
          <a:effectLst>
            <a:softEdge rad="317500"/>
          </a:effectLst>
        </p:spPr>
      </p:pic>
    </p:spTree>
    <p:extLst>
      <p:ext uri="{BB962C8B-B14F-4D97-AF65-F5344CB8AC3E}">
        <p14:creationId xmlns:p14="http://schemas.microsoft.com/office/powerpoint/2010/main" val="55850172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smtClean="0">
                <a:latin typeface="Times New Roman" panose="02020603050405020304" pitchFamily="18" charset="0"/>
                <a:cs typeface="Times New Roman" panose="02020603050405020304" pitchFamily="18" charset="0"/>
              </a:rPr>
              <a:t>Приклад програми, що реалізує фабричний метод</a:t>
            </a:r>
            <a:endParaRPr lang="uk-UA" dirty="0">
              <a:latin typeface="Times New Roman" panose="02020603050405020304" pitchFamily="18" charset="0"/>
              <a:cs typeface="Times New Roman" panose="02020603050405020304" pitchFamily="18" charset="0"/>
            </a:endParaRPr>
          </a:p>
        </p:txBody>
      </p:sp>
      <p:pic>
        <p:nvPicPr>
          <p:cNvPr id="4" name="Рисунок 3"/>
          <p:cNvPicPr>
            <a:picLocks noChangeAspect="1"/>
          </p:cNvPicPr>
          <p:nvPr/>
        </p:nvPicPr>
        <p:blipFill rotWithShape="1">
          <a:blip r:embed="rId2"/>
          <a:srcRect t="54976"/>
          <a:stretch/>
        </p:blipFill>
        <p:spPr>
          <a:xfrm>
            <a:off x="6849274" y="2325355"/>
            <a:ext cx="4866033" cy="3416300"/>
          </a:xfrm>
          <a:prstGeom prst="rect">
            <a:avLst/>
          </a:prstGeom>
        </p:spPr>
      </p:pic>
      <p:pic>
        <p:nvPicPr>
          <p:cNvPr id="5" name="Рисунок 4"/>
          <p:cNvPicPr>
            <a:picLocks noChangeAspect="1"/>
          </p:cNvPicPr>
          <p:nvPr/>
        </p:nvPicPr>
        <p:blipFill rotWithShape="1">
          <a:blip r:embed="rId2"/>
          <a:srcRect b="45024"/>
          <a:stretch/>
        </p:blipFill>
        <p:spPr>
          <a:xfrm>
            <a:off x="838200" y="2325355"/>
            <a:ext cx="4866033" cy="4171414"/>
          </a:xfrm>
          <a:prstGeom prst="rect">
            <a:avLst/>
          </a:prstGeom>
        </p:spPr>
      </p:pic>
    </p:spTree>
    <p:extLst>
      <p:ext uri="{BB962C8B-B14F-4D97-AF65-F5344CB8AC3E}">
        <p14:creationId xmlns:p14="http://schemas.microsoft.com/office/powerpoint/2010/main" val="13609492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Chain of Responsibility</a:t>
            </a:r>
            <a:endParaRPr lang="uk-UA"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838200" y="1825625"/>
            <a:ext cx="7795439" cy="4351338"/>
          </a:xfrm>
        </p:spPr>
        <p:txBody>
          <a:bodyPr/>
          <a:lstStyle/>
          <a:p>
            <a:r>
              <a:rPr lang="en-US" dirty="0" smtClean="0">
                <a:latin typeface="Times New Roman" panose="02020603050405020304" pitchFamily="18" charset="0"/>
                <a:cs typeface="Times New Roman" panose="02020603050405020304" pitchFamily="18" charset="0"/>
              </a:rPr>
              <a:t>Chain of command</a:t>
            </a:r>
            <a:r>
              <a:rPr lang="uk-UA" dirty="0" smtClean="0">
                <a:latin typeface="Times New Roman" panose="02020603050405020304" pitchFamily="18" charset="0"/>
                <a:cs typeface="Times New Roman" panose="02020603050405020304" pitchFamily="18" charset="0"/>
              </a:rPr>
              <a:t>, або ланцюг відповідальностей- це доволі простий поведінковий шаблон програмування, який полягає у створенні ланцюгу команд для послідовної обробки даних.</a:t>
            </a:r>
            <a:endParaRPr lang="uk-UA" dirty="0">
              <a:latin typeface="Times New Roman" panose="02020603050405020304" pitchFamily="18" charset="0"/>
              <a:cs typeface="Times New Roman" panose="02020603050405020304" pitchFamily="18" charset="0"/>
            </a:endParaRPr>
          </a:p>
        </p:txBody>
      </p:sp>
      <p:sp>
        <p:nvSpPr>
          <p:cNvPr id="4" name="Овал 3"/>
          <p:cNvSpPr/>
          <p:nvPr/>
        </p:nvSpPr>
        <p:spPr>
          <a:xfrm>
            <a:off x="10834576" y="809938"/>
            <a:ext cx="435935" cy="43593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uk-UA"/>
          </a:p>
        </p:txBody>
      </p:sp>
      <p:sp>
        <p:nvSpPr>
          <p:cNvPr id="5" name="Овал 4"/>
          <p:cNvSpPr/>
          <p:nvPr/>
        </p:nvSpPr>
        <p:spPr>
          <a:xfrm>
            <a:off x="10286999" y="1659290"/>
            <a:ext cx="1531088" cy="565058"/>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uk-UA" dirty="0" smtClean="0"/>
              <a:t>Обробка</a:t>
            </a:r>
            <a:endParaRPr lang="uk-UA" dirty="0"/>
          </a:p>
        </p:txBody>
      </p:sp>
      <p:cxnSp>
        <p:nvCxnSpPr>
          <p:cNvPr id="7" name="Прямая со стрелкой 6"/>
          <p:cNvCxnSpPr>
            <a:stCxn id="4" idx="4"/>
          </p:cNvCxnSpPr>
          <p:nvPr/>
        </p:nvCxnSpPr>
        <p:spPr>
          <a:xfrm flipH="1">
            <a:off x="11052543" y="1245873"/>
            <a:ext cx="1" cy="38469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Прямая со стрелкой 8"/>
          <p:cNvCxnSpPr>
            <a:stCxn id="5" idx="3"/>
          </p:cNvCxnSpPr>
          <p:nvPr/>
        </p:nvCxnSpPr>
        <p:spPr>
          <a:xfrm flipH="1">
            <a:off x="9994605" y="2141597"/>
            <a:ext cx="516617" cy="56970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TextBox 9"/>
          <p:cNvSpPr txBox="1"/>
          <p:nvPr/>
        </p:nvSpPr>
        <p:spPr>
          <a:xfrm>
            <a:off x="9399182" y="2149450"/>
            <a:ext cx="1052623" cy="276999"/>
          </a:xfrm>
          <a:prstGeom prst="rect">
            <a:avLst/>
          </a:prstGeom>
          <a:noFill/>
        </p:spPr>
        <p:txBody>
          <a:bodyPr wrap="square" rtlCol="0">
            <a:spAutoFit/>
          </a:bodyPr>
          <a:lstStyle/>
          <a:p>
            <a:r>
              <a:rPr lang="uk-UA" sz="1200" dirty="0" smtClean="0"/>
              <a:t>Виключення</a:t>
            </a:r>
            <a:endParaRPr lang="uk-UA" sz="1200" dirty="0"/>
          </a:p>
        </p:txBody>
      </p:sp>
      <p:sp>
        <p:nvSpPr>
          <p:cNvPr id="15" name="Овал 14"/>
          <p:cNvSpPr/>
          <p:nvPr/>
        </p:nvSpPr>
        <p:spPr>
          <a:xfrm>
            <a:off x="10286999" y="2637765"/>
            <a:ext cx="1531088" cy="565058"/>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uk-UA" dirty="0" smtClean="0"/>
              <a:t>Обробка</a:t>
            </a:r>
            <a:endParaRPr lang="uk-UA" dirty="0"/>
          </a:p>
        </p:txBody>
      </p:sp>
      <p:cxnSp>
        <p:nvCxnSpPr>
          <p:cNvPr id="16" name="Прямая со стрелкой 15"/>
          <p:cNvCxnSpPr/>
          <p:nvPr/>
        </p:nvCxnSpPr>
        <p:spPr>
          <a:xfrm flipH="1">
            <a:off x="11052543" y="2224348"/>
            <a:ext cx="1" cy="38469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Прямая со стрелкой 16"/>
          <p:cNvCxnSpPr>
            <a:stCxn id="15" idx="3"/>
          </p:cNvCxnSpPr>
          <p:nvPr/>
        </p:nvCxnSpPr>
        <p:spPr>
          <a:xfrm flipH="1">
            <a:off x="9994605" y="3120072"/>
            <a:ext cx="516617" cy="56970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TextBox 17"/>
          <p:cNvSpPr txBox="1"/>
          <p:nvPr/>
        </p:nvSpPr>
        <p:spPr>
          <a:xfrm>
            <a:off x="9399182" y="3127925"/>
            <a:ext cx="1052623" cy="276999"/>
          </a:xfrm>
          <a:prstGeom prst="rect">
            <a:avLst/>
          </a:prstGeom>
          <a:noFill/>
        </p:spPr>
        <p:txBody>
          <a:bodyPr wrap="square" rtlCol="0">
            <a:spAutoFit/>
          </a:bodyPr>
          <a:lstStyle/>
          <a:p>
            <a:r>
              <a:rPr lang="uk-UA" sz="1200" dirty="0" smtClean="0"/>
              <a:t>Виключення</a:t>
            </a:r>
            <a:endParaRPr lang="uk-UA" sz="1200" dirty="0"/>
          </a:p>
        </p:txBody>
      </p:sp>
      <p:sp>
        <p:nvSpPr>
          <p:cNvPr id="19" name="Овал 18"/>
          <p:cNvSpPr/>
          <p:nvPr/>
        </p:nvSpPr>
        <p:spPr>
          <a:xfrm>
            <a:off x="10286999" y="3590939"/>
            <a:ext cx="1531088" cy="565058"/>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uk-UA" dirty="0" smtClean="0"/>
              <a:t>Обробка</a:t>
            </a:r>
            <a:endParaRPr lang="uk-UA" dirty="0"/>
          </a:p>
        </p:txBody>
      </p:sp>
      <p:cxnSp>
        <p:nvCxnSpPr>
          <p:cNvPr id="20" name="Прямая со стрелкой 19"/>
          <p:cNvCxnSpPr/>
          <p:nvPr/>
        </p:nvCxnSpPr>
        <p:spPr>
          <a:xfrm flipH="1">
            <a:off x="11052543" y="3177522"/>
            <a:ext cx="1" cy="38469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Прямая со стрелкой 20"/>
          <p:cNvCxnSpPr>
            <a:stCxn id="19" idx="3"/>
          </p:cNvCxnSpPr>
          <p:nvPr/>
        </p:nvCxnSpPr>
        <p:spPr>
          <a:xfrm flipH="1">
            <a:off x="9994605" y="4073246"/>
            <a:ext cx="516617" cy="56970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TextBox 21"/>
          <p:cNvSpPr txBox="1"/>
          <p:nvPr/>
        </p:nvSpPr>
        <p:spPr>
          <a:xfrm>
            <a:off x="9399182" y="4081099"/>
            <a:ext cx="1052623" cy="276999"/>
          </a:xfrm>
          <a:prstGeom prst="rect">
            <a:avLst/>
          </a:prstGeom>
          <a:noFill/>
        </p:spPr>
        <p:txBody>
          <a:bodyPr wrap="square" rtlCol="0">
            <a:spAutoFit/>
          </a:bodyPr>
          <a:lstStyle/>
          <a:p>
            <a:r>
              <a:rPr lang="uk-UA" sz="1200" dirty="0" smtClean="0"/>
              <a:t>Виключення</a:t>
            </a:r>
            <a:endParaRPr lang="uk-UA" sz="1200" dirty="0"/>
          </a:p>
        </p:txBody>
      </p:sp>
      <p:sp>
        <p:nvSpPr>
          <p:cNvPr id="23" name="Овал 22"/>
          <p:cNvSpPr/>
          <p:nvPr/>
        </p:nvSpPr>
        <p:spPr>
          <a:xfrm>
            <a:off x="10286999" y="4567310"/>
            <a:ext cx="1531088" cy="565058"/>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uk-UA" dirty="0" smtClean="0"/>
              <a:t>Обробка</a:t>
            </a:r>
            <a:endParaRPr lang="uk-UA" dirty="0"/>
          </a:p>
        </p:txBody>
      </p:sp>
      <p:cxnSp>
        <p:nvCxnSpPr>
          <p:cNvPr id="24" name="Прямая со стрелкой 23"/>
          <p:cNvCxnSpPr/>
          <p:nvPr/>
        </p:nvCxnSpPr>
        <p:spPr>
          <a:xfrm flipH="1">
            <a:off x="11052543" y="4153893"/>
            <a:ext cx="1" cy="38469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Прямая со стрелкой 24"/>
          <p:cNvCxnSpPr>
            <a:stCxn id="23" idx="4"/>
          </p:cNvCxnSpPr>
          <p:nvPr/>
        </p:nvCxnSpPr>
        <p:spPr>
          <a:xfrm>
            <a:off x="11052543" y="5132368"/>
            <a:ext cx="0" cy="4869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 name="TextBox 25"/>
          <p:cNvSpPr txBox="1"/>
          <p:nvPr/>
        </p:nvSpPr>
        <p:spPr>
          <a:xfrm>
            <a:off x="10526230" y="5660227"/>
            <a:ext cx="1052623" cy="338554"/>
          </a:xfrm>
          <a:prstGeom prst="rect">
            <a:avLst/>
          </a:prstGeom>
          <a:noFill/>
        </p:spPr>
        <p:txBody>
          <a:bodyPr wrap="square" rtlCol="0">
            <a:spAutoFit/>
          </a:bodyPr>
          <a:lstStyle/>
          <a:p>
            <a:r>
              <a:rPr lang="uk-UA" sz="1600" dirty="0" smtClean="0"/>
              <a:t>результат</a:t>
            </a:r>
            <a:endParaRPr lang="uk-UA" sz="1600" dirty="0"/>
          </a:p>
        </p:txBody>
      </p:sp>
      <p:sp>
        <p:nvSpPr>
          <p:cNvPr id="30" name="TextBox 29"/>
          <p:cNvSpPr txBox="1"/>
          <p:nvPr/>
        </p:nvSpPr>
        <p:spPr>
          <a:xfrm>
            <a:off x="10751819" y="448398"/>
            <a:ext cx="601447" cy="369332"/>
          </a:xfrm>
          <a:prstGeom prst="rect">
            <a:avLst/>
          </a:prstGeom>
          <a:noFill/>
        </p:spPr>
        <p:txBody>
          <a:bodyPr wrap="none" rtlCol="0">
            <a:spAutoFit/>
          </a:bodyPr>
          <a:lstStyle/>
          <a:p>
            <a:r>
              <a:rPr lang="uk-UA" dirty="0" smtClean="0"/>
              <a:t>Ввід</a:t>
            </a:r>
            <a:endParaRPr lang="uk-UA" dirty="0"/>
          </a:p>
        </p:txBody>
      </p:sp>
    </p:spTree>
    <p:extLst>
      <p:ext uri="{BB962C8B-B14F-4D97-AF65-F5344CB8AC3E}">
        <p14:creationId xmlns:p14="http://schemas.microsoft.com/office/powerpoint/2010/main" val="815273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250"/>
                                        <p:tgtEl>
                                          <p:spTgt spid="4"/>
                                        </p:tgtEl>
                                      </p:cBhvr>
                                    </p:animEffect>
                                  </p:childTnLst>
                                </p:cTn>
                              </p:par>
                              <p:par>
                                <p:cTn id="8" presetID="22" presetClass="entr" presetSubtype="1"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up)">
                                      <p:cBhvr>
                                        <p:cTn id="10" dur="250"/>
                                        <p:tgtEl>
                                          <p:spTgt spid="7"/>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wipe(up)">
                                      <p:cBhvr>
                                        <p:cTn id="13" dur="250"/>
                                        <p:tgtEl>
                                          <p:spTgt spid="30"/>
                                        </p:tgtEl>
                                      </p:cBhvr>
                                    </p:animEffect>
                                  </p:childTnLst>
                                </p:cTn>
                              </p:par>
                            </p:childTnLst>
                          </p:cTn>
                        </p:par>
                        <p:par>
                          <p:cTn id="14" fill="hold">
                            <p:stCondLst>
                              <p:cond delay="250"/>
                            </p:stCondLst>
                            <p:childTnLst>
                              <p:par>
                                <p:cTn id="15" presetID="22" presetClass="entr" presetSubtype="1"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250"/>
                                        <p:tgtEl>
                                          <p:spTgt spid="5"/>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up)">
                                      <p:cBhvr>
                                        <p:cTn id="20" dur="250"/>
                                        <p:tgtEl>
                                          <p:spTgt spid="10"/>
                                        </p:tgtEl>
                                      </p:cBhvr>
                                    </p:animEffect>
                                  </p:childTnLst>
                                </p:cTn>
                              </p:par>
                              <p:par>
                                <p:cTn id="21" presetID="22" presetClass="entr" presetSubtype="1"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up)">
                                      <p:cBhvr>
                                        <p:cTn id="23" dur="250"/>
                                        <p:tgtEl>
                                          <p:spTgt spid="9"/>
                                        </p:tgtEl>
                                      </p:cBhvr>
                                    </p:animEffect>
                                  </p:childTnLst>
                                </p:cTn>
                              </p:par>
                            </p:childTnLst>
                          </p:cTn>
                        </p:par>
                        <p:par>
                          <p:cTn id="24" fill="hold">
                            <p:stCondLst>
                              <p:cond delay="500"/>
                            </p:stCondLst>
                            <p:childTnLst>
                              <p:par>
                                <p:cTn id="25" presetID="22" presetClass="entr" presetSubtype="1" fill="hold" grpId="0" nodeType="after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up)">
                                      <p:cBhvr>
                                        <p:cTn id="27" dur="250"/>
                                        <p:tgtEl>
                                          <p:spTgt spid="15"/>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wipe(up)">
                                      <p:cBhvr>
                                        <p:cTn id="30" dur="250"/>
                                        <p:tgtEl>
                                          <p:spTgt spid="18"/>
                                        </p:tgtEl>
                                      </p:cBhvr>
                                    </p:animEffect>
                                  </p:childTnLst>
                                </p:cTn>
                              </p:par>
                              <p:par>
                                <p:cTn id="31" presetID="22" presetClass="entr" presetSubtype="1"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wipe(up)">
                                      <p:cBhvr>
                                        <p:cTn id="33" dur="250"/>
                                        <p:tgtEl>
                                          <p:spTgt spid="17"/>
                                        </p:tgtEl>
                                      </p:cBhvr>
                                    </p:animEffect>
                                  </p:childTnLst>
                                </p:cTn>
                              </p:par>
                              <p:par>
                                <p:cTn id="34" presetID="22" presetClass="entr" presetSubtype="1" fill="hold"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up)">
                                      <p:cBhvr>
                                        <p:cTn id="36" dur="250"/>
                                        <p:tgtEl>
                                          <p:spTgt spid="16"/>
                                        </p:tgtEl>
                                      </p:cBhvr>
                                    </p:animEffect>
                                  </p:childTnLst>
                                </p:cTn>
                              </p:par>
                            </p:childTnLst>
                          </p:cTn>
                        </p:par>
                        <p:par>
                          <p:cTn id="37" fill="hold">
                            <p:stCondLst>
                              <p:cond delay="750"/>
                            </p:stCondLst>
                            <p:childTnLst>
                              <p:par>
                                <p:cTn id="38" presetID="22" presetClass="entr" presetSubtype="1" fill="hold" nodeType="after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wipe(up)">
                                      <p:cBhvr>
                                        <p:cTn id="40" dur="250"/>
                                        <p:tgtEl>
                                          <p:spTgt spid="20"/>
                                        </p:tgtEl>
                                      </p:cBhvr>
                                    </p:animEffect>
                                  </p:childTnLst>
                                </p:cTn>
                              </p:par>
                              <p:par>
                                <p:cTn id="41" presetID="22" presetClass="entr" presetSubtype="1"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wipe(up)">
                                      <p:cBhvr>
                                        <p:cTn id="43" dur="250"/>
                                        <p:tgtEl>
                                          <p:spTgt spid="19"/>
                                        </p:tgtEl>
                                      </p:cBhvr>
                                    </p:animEffect>
                                  </p:childTnLst>
                                </p:cTn>
                              </p:par>
                              <p:par>
                                <p:cTn id="44" presetID="22" presetClass="entr" presetSubtype="1"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wipe(up)">
                                      <p:cBhvr>
                                        <p:cTn id="46" dur="250"/>
                                        <p:tgtEl>
                                          <p:spTgt spid="22"/>
                                        </p:tgtEl>
                                      </p:cBhvr>
                                    </p:animEffect>
                                  </p:childTnLst>
                                </p:cTn>
                              </p:par>
                              <p:par>
                                <p:cTn id="47" presetID="22" presetClass="entr" presetSubtype="1" fill="hold"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wipe(up)">
                                      <p:cBhvr>
                                        <p:cTn id="49" dur="250"/>
                                        <p:tgtEl>
                                          <p:spTgt spid="21"/>
                                        </p:tgtEl>
                                      </p:cBhvr>
                                    </p:animEffect>
                                  </p:childTnLst>
                                </p:cTn>
                              </p:par>
                            </p:childTnLst>
                          </p:cTn>
                        </p:par>
                        <p:par>
                          <p:cTn id="50" fill="hold">
                            <p:stCondLst>
                              <p:cond delay="1000"/>
                            </p:stCondLst>
                            <p:childTnLst>
                              <p:par>
                                <p:cTn id="51" presetID="22" presetClass="entr" presetSubtype="1" fill="hold" grpId="0" nodeType="after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wipe(up)">
                                      <p:cBhvr>
                                        <p:cTn id="53" dur="500"/>
                                        <p:tgtEl>
                                          <p:spTgt spid="26"/>
                                        </p:tgtEl>
                                      </p:cBhvr>
                                    </p:animEffect>
                                  </p:childTnLst>
                                </p:cTn>
                              </p:par>
                              <p:par>
                                <p:cTn id="54" presetID="22" presetClass="entr" presetSubtype="1" fill="hold" nodeType="with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wipe(up)">
                                      <p:cBhvr>
                                        <p:cTn id="56" dur="500"/>
                                        <p:tgtEl>
                                          <p:spTgt spid="24"/>
                                        </p:tgtEl>
                                      </p:cBhvr>
                                    </p:animEffect>
                                  </p:childTnLst>
                                </p:cTn>
                              </p:par>
                              <p:par>
                                <p:cTn id="57" presetID="22" presetClass="entr" presetSubtype="1" fill="hold" grpId="0" nodeType="with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wipe(up)">
                                      <p:cBhvr>
                                        <p:cTn id="59" dur="500"/>
                                        <p:tgtEl>
                                          <p:spTgt spid="23"/>
                                        </p:tgtEl>
                                      </p:cBhvr>
                                    </p:animEffect>
                                  </p:childTnLst>
                                </p:cTn>
                              </p:par>
                              <p:par>
                                <p:cTn id="60" presetID="22" presetClass="entr" presetSubtype="1" fill="hold"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wipe(up)">
                                      <p:cBhvr>
                                        <p:cTn id="6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0" grpId="0"/>
      <p:bldP spid="15" grpId="0" animBg="1"/>
      <p:bldP spid="18" grpId="0"/>
      <p:bldP spid="19" grpId="0" animBg="1"/>
      <p:bldP spid="22" grpId="0"/>
      <p:bldP spid="23" grpId="0" animBg="1"/>
      <p:bldP spid="26" grpId="0"/>
      <p:bldP spid="3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smtClean="0">
                <a:latin typeface="Times New Roman" panose="02020603050405020304" pitchFamily="18" charset="0"/>
                <a:cs typeface="Times New Roman" panose="02020603050405020304" pitchFamily="18" charset="0"/>
              </a:rPr>
              <a:t>Детальніше про </a:t>
            </a:r>
            <a:r>
              <a:rPr lang="en-US" dirty="0" err="1" smtClean="0">
                <a:latin typeface="Times New Roman" panose="02020603050405020304" pitchFamily="18" charset="0"/>
                <a:cs typeface="Times New Roman" panose="02020603050405020304" pitchFamily="18" charset="0"/>
              </a:rPr>
              <a:t>CoR</a:t>
            </a:r>
            <a:endParaRPr lang="uk-UA"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p:txBody>
          <a:bodyPr/>
          <a:lstStyle/>
          <a:p>
            <a:r>
              <a:rPr lang="uk-UA" dirty="0" smtClean="0">
                <a:latin typeface="Times New Roman" panose="02020603050405020304" pitchFamily="18" charset="0"/>
                <a:cs typeface="Times New Roman" panose="02020603050405020304" pitchFamily="18" charset="0"/>
              </a:rPr>
              <a:t>Ланцюг починається з обробника, який визначає для всіх конкретних обробників спільний інтерфейс.</a:t>
            </a:r>
          </a:p>
          <a:p>
            <a:r>
              <a:rPr lang="uk-UA" dirty="0" smtClean="0">
                <a:latin typeface="Times New Roman" panose="02020603050405020304" pitchFamily="18" charset="0"/>
                <a:cs typeface="Times New Roman" panose="02020603050405020304" pitchFamily="18" charset="0"/>
              </a:rPr>
              <a:t>Зазвичай, для оптимізації ланцюга, створюється клас, базовий обробник, який використовується в подальших обробниках для скорочення коду.</a:t>
            </a:r>
          </a:p>
          <a:p>
            <a:r>
              <a:rPr lang="uk-UA" dirty="0" smtClean="0">
                <a:latin typeface="Times New Roman" panose="02020603050405020304" pitchFamily="18" charset="0"/>
                <a:cs typeface="Times New Roman" panose="02020603050405020304" pitchFamily="18" charset="0"/>
              </a:rPr>
              <a:t>Конкретні обробники налічують індивідуальний код обробки.</a:t>
            </a:r>
          </a:p>
          <a:p>
            <a:r>
              <a:rPr lang="uk-UA" dirty="0" smtClean="0">
                <a:latin typeface="Times New Roman" panose="02020603050405020304" pitchFamily="18" charset="0"/>
                <a:cs typeface="Times New Roman" panose="02020603050405020304" pitchFamily="18" charset="0"/>
              </a:rPr>
              <a:t>Варто пам’ятати, що не обов’язково відправляти всі запити на початок ланцюга, обробку деяких запитів можна починати з </a:t>
            </a:r>
            <a:r>
              <a:rPr lang="en-US" dirty="0" smtClean="0">
                <a:latin typeface="Times New Roman" panose="02020603050405020304" pitchFamily="18" charset="0"/>
                <a:cs typeface="Times New Roman" panose="02020603050405020304" pitchFamily="18" charset="0"/>
              </a:rPr>
              <a:t>n-</a:t>
            </a:r>
            <a:r>
              <a:rPr lang="uk-UA" dirty="0" smtClean="0">
                <a:latin typeface="Times New Roman" panose="02020603050405020304" pitchFamily="18" charset="0"/>
                <a:cs typeface="Times New Roman" panose="02020603050405020304" pitchFamily="18" charset="0"/>
              </a:rPr>
              <a:t>го елемента ланцюга.</a:t>
            </a:r>
          </a:p>
        </p:txBody>
      </p:sp>
    </p:spTree>
    <p:extLst>
      <p:ext uri="{BB962C8B-B14F-4D97-AF65-F5344CB8AC3E}">
        <p14:creationId xmlns:p14="http://schemas.microsoft.com/office/powerpoint/2010/main" val="337089331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smtClean="0">
                <a:latin typeface="Times New Roman" panose="02020603050405020304" pitchFamily="18" charset="0"/>
                <a:cs typeface="Times New Roman" panose="02020603050405020304" pitchFamily="18" charset="0"/>
              </a:rPr>
              <a:t>Використання</a:t>
            </a:r>
            <a:endParaRPr lang="uk-UA"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p:txBody>
          <a:bodyPr/>
          <a:lstStyle/>
          <a:p>
            <a:r>
              <a:rPr lang="uk-UA" dirty="0" smtClean="0">
                <a:latin typeface="Times New Roman" panose="02020603050405020304" pitchFamily="18" charset="0"/>
                <a:cs typeface="Times New Roman" panose="02020603050405020304" pitchFamily="18" charset="0"/>
              </a:rPr>
              <a:t>Через свою простоту та зручність цей шаблон часто використовується для будь якої обробки. Цей шаблон добре підходить для побудови систем, де різні об'єкти можуть відповідати за різні типи запитів. </a:t>
            </a:r>
          </a:p>
        </p:txBody>
      </p:sp>
      <p:pic>
        <p:nvPicPr>
          <p:cNvPr id="4" name="Рисунок 3"/>
          <p:cNvPicPr>
            <a:picLocks noChangeAspect="1"/>
          </p:cNvPicPr>
          <p:nvPr/>
        </p:nvPicPr>
        <p:blipFill>
          <a:blip r:embed="rId2"/>
          <a:stretch>
            <a:fillRect/>
          </a:stretch>
        </p:blipFill>
        <p:spPr>
          <a:xfrm>
            <a:off x="6386179" y="3796393"/>
            <a:ext cx="5905500" cy="2828925"/>
          </a:xfrm>
          <a:prstGeom prst="rect">
            <a:avLst/>
          </a:prstGeom>
          <a:effectLst>
            <a:softEdge rad="127000"/>
          </a:effectLst>
        </p:spPr>
      </p:pic>
      <p:sp>
        <p:nvSpPr>
          <p:cNvPr id="5" name="Прямоугольник 4"/>
          <p:cNvSpPr/>
          <p:nvPr/>
        </p:nvSpPr>
        <p:spPr>
          <a:xfrm>
            <a:off x="838200" y="4001294"/>
            <a:ext cx="5987902" cy="2419124"/>
          </a:xfrm>
          <a:prstGeom prst="rect">
            <a:avLst/>
          </a:prstGeom>
        </p:spPr>
        <p:txBody>
          <a:bodyPr wrap="square">
            <a:spAutoFit/>
          </a:bodyPr>
          <a:lstStyle/>
          <a:p>
            <a:pPr marL="228600" indent="-228600">
              <a:lnSpc>
                <a:spcPct val="90000"/>
              </a:lnSpc>
              <a:spcBef>
                <a:spcPts val="1000"/>
              </a:spcBef>
              <a:buFont typeface="Arial" panose="020B0604020202020204" pitchFamily="34" charset="0"/>
              <a:buChar char="•"/>
            </a:pPr>
            <a:r>
              <a:rPr lang="uk-UA" sz="2800" dirty="0">
                <a:latin typeface="Times New Roman" panose="02020603050405020304" pitchFamily="18" charset="0"/>
                <a:cs typeface="Times New Roman" panose="02020603050405020304" pitchFamily="18" charset="0"/>
              </a:rPr>
              <a:t>Найпростішим для розуміння буде приклад на основі телефонного бота, коли вам для вирішення проблеми кажуть натискати певну цифру, переводячи до наступного елемента ланцюга.</a:t>
            </a:r>
            <a:endParaRPr lang="uk-UA"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047110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smtClean="0">
                <a:latin typeface="Times New Roman" panose="02020603050405020304" pitchFamily="18" charset="0"/>
                <a:cs typeface="Times New Roman" panose="02020603050405020304" pitchFamily="18" charset="0"/>
              </a:rPr>
              <a:t>Приклад програми, що реалізує </a:t>
            </a:r>
            <a:r>
              <a:rPr lang="en-US" dirty="0" err="1" smtClean="0">
                <a:latin typeface="Times New Roman" panose="02020603050405020304" pitchFamily="18" charset="0"/>
                <a:cs typeface="Times New Roman" panose="02020603050405020304" pitchFamily="18" charset="0"/>
              </a:rPr>
              <a:t>CoR</a:t>
            </a:r>
            <a:endParaRPr lang="uk-UA" dirty="0"/>
          </a:p>
        </p:txBody>
      </p:sp>
      <p:pic>
        <p:nvPicPr>
          <p:cNvPr id="5" name="Рисунок 4"/>
          <p:cNvPicPr>
            <a:picLocks noChangeAspect="1"/>
          </p:cNvPicPr>
          <p:nvPr/>
        </p:nvPicPr>
        <p:blipFill>
          <a:blip r:embed="rId2"/>
          <a:stretch>
            <a:fillRect/>
          </a:stretch>
        </p:blipFill>
        <p:spPr>
          <a:xfrm>
            <a:off x="838200" y="1690688"/>
            <a:ext cx="2486025" cy="733425"/>
          </a:xfrm>
          <a:prstGeom prst="rect">
            <a:avLst/>
          </a:prstGeom>
        </p:spPr>
      </p:pic>
      <p:pic>
        <p:nvPicPr>
          <p:cNvPr id="6" name="Рисунок 5"/>
          <p:cNvPicPr>
            <a:picLocks noChangeAspect="1"/>
          </p:cNvPicPr>
          <p:nvPr/>
        </p:nvPicPr>
        <p:blipFill>
          <a:blip r:embed="rId3"/>
          <a:stretch>
            <a:fillRect/>
          </a:stretch>
        </p:blipFill>
        <p:spPr>
          <a:xfrm>
            <a:off x="838200" y="2783846"/>
            <a:ext cx="3343275" cy="2162175"/>
          </a:xfrm>
          <a:prstGeom prst="rect">
            <a:avLst/>
          </a:prstGeom>
        </p:spPr>
      </p:pic>
      <p:pic>
        <p:nvPicPr>
          <p:cNvPr id="7" name="Рисунок 6"/>
          <p:cNvPicPr>
            <a:picLocks noChangeAspect="1"/>
          </p:cNvPicPr>
          <p:nvPr/>
        </p:nvPicPr>
        <p:blipFill rotWithShape="1">
          <a:blip r:embed="rId4"/>
          <a:srcRect r="26002"/>
          <a:stretch/>
        </p:blipFill>
        <p:spPr>
          <a:xfrm>
            <a:off x="4459362" y="1690688"/>
            <a:ext cx="3419364" cy="3505200"/>
          </a:xfrm>
          <a:prstGeom prst="rect">
            <a:avLst/>
          </a:prstGeom>
        </p:spPr>
      </p:pic>
      <p:sp>
        <p:nvSpPr>
          <p:cNvPr id="8" name="TextBox 7"/>
          <p:cNvSpPr txBox="1"/>
          <p:nvPr/>
        </p:nvSpPr>
        <p:spPr>
          <a:xfrm>
            <a:off x="838200" y="5528930"/>
            <a:ext cx="1971630" cy="369332"/>
          </a:xfrm>
          <a:prstGeom prst="rect">
            <a:avLst/>
          </a:prstGeom>
          <a:noFill/>
        </p:spPr>
        <p:txBody>
          <a:bodyPr wrap="none" rtlCol="0">
            <a:spAutoFit/>
          </a:bodyPr>
          <a:lstStyle/>
          <a:p>
            <a:r>
              <a:rPr lang="uk-UA" dirty="0" smtClean="0"/>
              <a:t>Основні елементи</a:t>
            </a:r>
            <a:endParaRPr lang="uk-UA" dirty="0"/>
          </a:p>
        </p:txBody>
      </p:sp>
      <p:sp>
        <p:nvSpPr>
          <p:cNvPr id="9" name="TextBox 8"/>
          <p:cNvSpPr txBox="1"/>
          <p:nvPr/>
        </p:nvSpPr>
        <p:spPr>
          <a:xfrm>
            <a:off x="4459362" y="5528930"/>
            <a:ext cx="2883931" cy="369332"/>
          </a:xfrm>
          <a:prstGeom prst="rect">
            <a:avLst/>
          </a:prstGeom>
          <a:noFill/>
        </p:spPr>
        <p:txBody>
          <a:bodyPr wrap="none" rtlCol="0">
            <a:spAutoFit/>
          </a:bodyPr>
          <a:lstStyle/>
          <a:p>
            <a:r>
              <a:rPr lang="uk-UA" dirty="0" smtClean="0"/>
              <a:t>Перелік елементів ланцюга</a:t>
            </a:r>
            <a:endParaRPr lang="uk-UA" dirty="0"/>
          </a:p>
        </p:txBody>
      </p:sp>
      <p:pic>
        <p:nvPicPr>
          <p:cNvPr id="10" name="Рисунок 9"/>
          <p:cNvPicPr>
            <a:picLocks noChangeAspect="1"/>
          </p:cNvPicPr>
          <p:nvPr/>
        </p:nvPicPr>
        <p:blipFill>
          <a:blip r:embed="rId5"/>
          <a:stretch>
            <a:fillRect/>
          </a:stretch>
        </p:blipFill>
        <p:spPr>
          <a:xfrm>
            <a:off x="8444743" y="1690688"/>
            <a:ext cx="3476625" cy="2886075"/>
          </a:xfrm>
          <a:prstGeom prst="rect">
            <a:avLst/>
          </a:prstGeom>
        </p:spPr>
      </p:pic>
      <p:sp>
        <p:nvSpPr>
          <p:cNvPr id="11" name="TextBox 10"/>
          <p:cNvSpPr txBox="1"/>
          <p:nvPr/>
        </p:nvSpPr>
        <p:spPr>
          <a:xfrm>
            <a:off x="8444743" y="5528930"/>
            <a:ext cx="2020105" cy="369332"/>
          </a:xfrm>
          <a:prstGeom prst="rect">
            <a:avLst/>
          </a:prstGeom>
          <a:noFill/>
        </p:spPr>
        <p:txBody>
          <a:bodyPr wrap="none" rtlCol="0">
            <a:spAutoFit/>
          </a:bodyPr>
          <a:lstStyle/>
          <a:p>
            <a:r>
              <a:rPr lang="uk-UA" dirty="0" smtClean="0"/>
              <a:t>Основна програма</a:t>
            </a:r>
          </a:p>
        </p:txBody>
      </p:sp>
    </p:spTree>
    <p:extLst>
      <p:ext uri="{BB962C8B-B14F-4D97-AF65-F5344CB8AC3E}">
        <p14:creationId xmlns:p14="http://schemas.microsoft.com/office/powerpoint/2010/main" val="204462444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Composite</a:t>
            </a:r>
            <a:endParaRPr lang="uk-UA" dirty="0"/>
          </a:p>
        </p:txBody>
      </p:sp>
      <p:sp>
        <p:nvSpPr>
          <p:cNvPr id="3" name="Объект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Composite</a:t>
            </a:r>
            <a:r>
              <a:rPr lang="uk-UA" dirty="0" smtClean="0">
                <a:latin typeface="Times New Roman" panose="02020603050405020304" pitchFamily="18" charset="0"/>
                <a:cs typeface="Times New Roman" panose="02020603050405020304" pitchFamily="18" charset="0"/>
              </a:rPr>
              <a:t>, також відомий як компонувальник- це</a:t>
            </a:r>
            <a:r>
              <a:rPr lang="uk-UA" dirty="0" smtClean="0"/>
              <a:t> структурний шаблон проектування, який дозволяє організувати об'єкти у вигляді «дерева» для представлення їх ієрархії.</a:t>
            </a:r>
            <a:endParaRPr lang="uk-UA" dirty="0"/>
          </a:p>
        </p:txBody>
      </p:sp>
      <p:sp>
        <p:nvSpPr>
          <p:cNvPr id="5" name="Прямоугольник 4"/>
          <p:cNvSpPr/>
          <p:nvPr/>
        </p:nvSpPr>
        <p:spPr>
          <a:xfrm>
            <a:off x="4804145" y="3209168"/>
            <a:ext cx="2583710" cy="895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200" dirty="0" smtClean="0"/>
              <a:t>Component</a:t>
            </a:r>
            <a:endParaRPr lang="uk-UA" sz="3200" dirty="0"/>
          </a:p>
        </p:txBody>
      </p:sp>
      <p:sp>
        <p:nvSpPr>
          <p:cNvPr id="7" name="Прямоугольник 6"/>
          <p:cNvSpPr/>
          <p:nvPr/>
        </p:nvSpPr>
        <p:spPr>
          <a:xfrm>
            <a:off x="3572540" y="4550735"/>
            <a:ext cx="2041451" cy="74427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200" dirty="0" smtClean="0"/>
              <a:t>Composite </a:t>
            </a:r>
            <a:endParaRPr lang="uk-UA" sz="3200" dirty="0"/>
          </a:p>
        </p:txBody>
      </p:sp>
      <p:sp>
        <p:nvSpPr>
          <p:cNvPr id="8" name="Прямоугольник 7"/>
          <p:cNvSpPr/>
          <p:nvPr/>
        </p:nvSpPr>
        <p:spPr>
          <a:xfrm>
            <a:off x="6574465" y="4550735"/>
            <a:ext cx="2006009" cy="74427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200" dirty="0" smtClean="0"/>
              <a:t>Composite </a:t>
            </a:r>
            <a:endParaRPr lang="uk-UA" sz="3200" dirty="0"/>
          </a:p>
        </p:txBody>
      </p:sp>
      <p:sp>
        <p:nvSpPr>
          <p:cNvPr id="9" name="Прямоугольник 8"/>
          <p:cNvSpPr/>
          <p:nvPr/>
        </p:nvSpPr>
        <p:spPr>
          <a:xfrm>
            <a:off x="3318688" y="5805377"/>
            <a:ext cx="1133253" cy="55036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200" dirty="0"/>
              <a:t>L</a:t>
            </a:r>
            <a:r>
              <a:rPr lang="en-US" sz="3200" dirty="0" smtClean="0"/>
              <a:t>eaf</a:t>
            </a:r>
            <a:endParaRPr lang="uk-UA" sz="3200" dirty="0"/>
          </a:p>
        </p:txBody>
      </p:sp>
      <p:sp>
        <p:nvSpPr>
          <p:cNvPr id="11" name="Прямоугольник 10"/>
          <p:cNvSpPr/>
          <p:nvPr/>
        </p:nvSpPr>
        <p:spPr>
          <a:xfrm>
            <a:off x="4672124" y="5805377"/>
            <a:ext cx="1133253" cy="55036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200" dirty="0"/>
              <a:t>L</a:t>
            </a:r>
            <a:r>
              <a:rPr lang="en-US" sz="3200" dirty="0" smtClean="0"/>
              <a:t>eaf</a:t>
            </a:r>
            <a:endParaRPr lang="uk-UA" sz="3200" dirty="0"/>
          </a:p>
        </p:txBody>
      </p:sp>
      <p:sp>
        <p:nvSpPr>
          <p:cNvPr id="12" name="Прямоугольник 11"/>
          <p:cNvSpPr/>
          <p:nvPr/>
        </p:nvSpPr>
        <p:spPr>
          <a:xfrm>
            <a:off x="6365802" y="5829263"/>
            <a:ext cx="1133253" cy="52334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200" dirty="0"/>
              <a:t>L</a:t>
            </a:r>
            <a:r>
              <a:rPr lang="en-US" sz="3200" dirty="0" smtClean="0"/>
              <a:t>eaf</a:t>
            </a:r>
            <a:endParaRPr lang="uk-UA" sz="3200" dirty="0"/>
          </a:p>
        </p:txBody>
      </p:sp>
      <p:sp>
        <p:nvSpPr>
          <p:cNvPr id="13" name="Прямоугольник 12"/>
          <p:cNvSpPr/>
          <p:nvPr/>
        </p:nvSpPr>
        <p:spPr>
          <a:xfrm>
            <a:off x="7946064" y="5805377"/>
            <a:ext cx="1133253" cy="55036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200" dirty="0"/>
              <a:t>L</a:t>
            </a:r>
            <a:r>
              <a:rPr lang="en-US" sz="3200" dirty="0" smtClean="0"/>
              <a:t>eaf</a:t>
            </a:r>
            <a:endParaRPr lang="uk-UA" sz="3200" dirty="0"/>
          </a:p>
        </p:txBody>
      </p:sp>
    </p:spTree>
    <p:extLst>
      <p:ext uri="{BB962C8B-B14F-4D97-AF65-F5344CB8AC3E}">
        <p14:creationId xmlns:p14="http://schemas.microsoft.com/office/powerpoint/2010/main" val="1785924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250" fill="hold"/>
                                        <p:tgtEl>
                                          <p:spTgt spid="5"/>
                                        </p:tgtEl>
                                        <p:attrNameLst>
                                          <p:attrName>ppt_x</p:attrName>
                                        </p:attrNameLst>
                                      </p:cBhvr>
                                      <p:tavLst>
                                        <p:tav tm="0">
                                          <p:val>
                                            <p:strVal val="#ppt_x"/>
                                          </p:val>
                                        </p:tav>
                                        <p:tav tm="100000">
                                          <p:val>
                                            <p:strVal val="#ppt_x"/>
                                          </p:val>
                                        </p:tav>
                                      </p:tavLst>
                                    </p:anim>
                                    <p:anim calcmode="lin" valueType="num">
                                      <p:cBhvr additive="base">
                                        <p:cTn id="8" dur="250" fill="hold"/>
                                        <p:tgtEl>
                                          <p:spTgt spid="5"/>
                                        </p:tgtEl>
                                        <p:attrNameLst>
                                          <p:attrName>ppt_y</p:attrName>
                                        </p:attrNameLst>
                                      </p:cBhvr>
                                      <p:tavLst>
                                        <p:tav tm="0">
                                          <p:val>
                                            <p:strVal val="1+#ppt_h/2"/>
                                          </p:val>
                                        </p:tav>
                                        <p:tav tm="100000">
                                          <p:val>
                                            <p:strVal val="#ppt_y"/>
                                          </p:val>
                                        </p:tav>
                                      </p:tavLst>
                                    </p:anim>
                                  </p:childTnLst>
                                </p:cTn>
                              </p:par>
                            </p:childTnLst>
                          </p:cTn>
                        </p:par>
                        <p:par>
                          <p:cTn id="9" fill="hold">
                            <p:stCondLst>
                              <p:cond delay="250"/>
                            </p:stCondLst>
                            <p:childTnLst>
                              <p:par>
                                <p:cTn id="10" presetID="2" presetClass="entr" presetSubtype="4"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250" fill="hold"/>
                                        <p:tgtEl>
                                          <p:spTgt spid="7"/>
                                        </p:tgtEl>
                                        <p:attrNameLst>
                                          <p:attrName>ppt_x</p:attrName>
                                        </p:attrNameLst>
                                      </p:cBhvr>
                                      <p:tavLst>
                                        <p:tav tm="0">
                                          <p:val>
                                            <p:strVal val="#ppt_x"/>
                                          </p:val>
                                        </p:tav>
                                        <p:tav tm="100000">
                                          <p:val>
                                            <p:strVal val="#ppt_x"/>
                                          </p:val>
                                        </p:tav>
                                      </p:tavLst>
                                    </p:anim>
                                    <p:anim calcmode="lin" valueType="num">
                                      <p:cBhvr additive="base">
                                        <p:cTn id="13" dur="250" fill="hold"/>
                                        <p:tgtEl>
                                          <p:spTgt spid="7"/>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250" fill="hold"/>
                                        <p:tgtEl>
                                          <p:spTgt spid="8"/>
                                        </p:tgtEl>
                                        <p:attrNameLst>
                                          <p:attrName>ppt_x</p:attrName>
                                        </p:attrNameLst>
                                      </p:cBhvr>
                                      <p:tavLst>
                                        <p:tav tm="0">
                                          <p:val>
                                            <p:strVal val="#ppt_x"/>
                                          </p:val>
                                        </p:tav>
                                        <p:tav tm="100000">
                                          <p:val>
                                            <p:strVal val="#ppt_x"/>
                                          </p:val>
                                        </p:tav>
                                      </p:tavLst>
                                    </p:anim>
                                    <p:anim calcmode="lin" valueType="num">
                                      <p:cBhvr additive="base">
                                        <p:cTn id="17" dur="250" fill="hold"/>
                                        <p:tgtEl>
                                          <p:spTgt spid="8"/>
                                        </p:tgtEl>
                                        <p:attrNameLst>
                                          <p:attrName>ppt_y</p:attrName>
                                        </p:attrNameLst>
                                      </p:cBhvr>
                                      <p:tavLst>
                                        <p:tav tm="0">
                                          <p:val>
                                            <p:strVal val="1+#ppt_h/2"/>
                                          </p:val>
                                        </p:tav>
                                        <p:tav tm="100000">
                                          <p:val>
                                            <p:strVal val="#ppt_y"/>
                                          </p:val>
                                        </p:tav>
                                      </p:tavLst>
                                    </p:anim>
                                  </p:childTnLst>
                                </p:cTn>
                              </p:par>
                            </p:childTnLst>
                          </p:cTn>
                        </p:par>
                        <p:par>
                          <p:cTn id="18" fill="hold">
                            <p:stCondLst>
                              <p:cond delay="500"/>
                            </p:stCondLst>
                            <p:childTnLst>
                              <p:par>
                                <p:cTn id="19" presetID="2" presetClass="entr" presetSubtype="4" fill="hold" grpId="0" nodeType="after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250" fill="hold"/>
                                        <p:tgtEl>
                                          <p:spTgt spid="9"/>
                                        </p:tgtEl>
                                        <p:attrNameLst>
                                          <p:attrName>ppt_x</p:attrName>
                                        </p:attrNameLst>
                                      </p:cBhvr>
                                      <p:tavLst>
                                        <p:tav tm="0">
                                          <p:val>
                                            <p:strVal val="#ppt_x"/>
                                          </p:val>
                                        </p:tav>
                                        <p:tav tm="100000">
                                          <p:val>
                                            <p:strVal val="#ppt_x"/>
                                          </p:val>
                                        </p:tav>
                                      </p:tavLst>
                                    </p:anim>
                                    <p:anim calcmode="lin" valueType="num">
                                      <p:cBhvr additive="base">
                                        <p:cTn id="22" dur="250" fill="hold"/>
                                        <p:tgtEl>
                                          <p:spTgt spid="9"/>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250" fill="hold"/>
                                        <p:tgtEl>
                                          <p:spTgt spid="11"/>
                                        </p:tgtEl>
                                        <p:attrNameLst>
                                          <p:attrName>ppt_x</p:attrName>
                                        </p:attrNameLst>
                                      </p:cBhvr>
                                      <p:tavLst>
                                        <p:tav tm="0">
                                          <p:val>
                                            <p:strVal val="#ppt_x"/>
                                          </p:val>
                                        </p:tav>
                                        <p:tav tm="100000">
                                          <p:val>
                                            <p:strVal val="#ppt_x"/>
                                          </p:val>
                                        </p:tav>
                                      </p:tavLst>
                                    </p:anim>
                                    <p:anim calcmode="lin" valueType="num">
                                      <p:cBhvr additive="base">
                                        <p:cTn id="26" dur="250" fill="hold"/>
                                        <p:tgtEl>
                                          <p:spTgt spid="11"/>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250" fill="hold"/>
                                        <p:tgtEl>
                                          <p:spTgt spid="12"/>
                                        </p:tgtEl>
                                        <p:attrNameLst>
                                          <p:attrName>ppt_x</p:attrName>
                                        </p:attrNameLst>
                                      </p:cBhvr>
                                      <p:tavLst>
                                        <p:tav tm="0">
                                          <p:val>
                                            <p:strVal val="#ppt_x"/>
                                          </p:val>
                                        </p:tav>
                                        <p:tav tm="100000">
                                          <p:val>
                                            <p:strVal val="#ppt_x"/>
                                          </p:val>
                                        </p:tav>
                                      </p:tavLst>
                                    </p:anim>
                                    <p:anim calcmode="lin" valueType="num">
                                      <p:cBhvr additive="base">
                                        <p:cTn id="30" dur="250" fill="hold"/>
                                        <p:tgtEl>
                                          <p:spTgt spid="12"/>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additive="base">
                                        <p:cTn id="33" dur="250" fill="hold"/>
                                        <p:tgtEl>
                                          <p:spTgt spid="13"/>
                                        </p:tgtEl>
                                        <p:attrNameLst>
                                          <p:attrName>ppt_x</p:attrName>
                                        </p:attrNameLst>
                                      </p:cBhvr>
                                      <p:tavLst>
                                        <p:tav tm="0">
                                          <p:val>
                                            <p:strVal val="#ppt_x"/>
                                          </p:val>
                                        </p:tav>
                                        <p:tav tm="100000">
                                          <p:val>
                                            <p:strVal val="#ppt_x"/>
                                          </p:val>
                                        </p:tav>
                                      </p:tavLst>
                                    </p:anim>
                                    <p:anim calcmode="lin" valueType="num">
                                      <p:cBhvr additive="base">
                                        <p:cTn id="34" dur="25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1" grpId="0" animBg="1"/>
      <p:bldP spid="12" grpId="0" animBg="1"/>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smtClean="0">
                <a:latin typeface="Times New Roman" panose="02020603050405020304" pitchFamily="18" charset="0"/>
                <a:cs typeface="Times New Roman" panose="02020603050405020304" pitchFamily="18" charset="0"/>
              </a:rPr>
              <a:t>Детальніше про </a:t>
            </a:r>
            <a:r>
              <a:rPr lang="en-US" dirty="0" smtClean="0">
                <a:latin typeface="Times New Roman" panose="02020603050405020304" pitchFamily="18" charset="0"/>
                <a:cs typeface="Times New Roman" panose="02020603050405020304" pitchFamily="18" charset="0"/>
              </a:rPr>
              <a:t>Composite</a:t>
            </a:r>
            <a:endParaRPr lang="uk-UA"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838200" y="1804359"/>
            <a:ext cx="10515600" cy="4351338"/>
          </a:xfrm>
        </p:spPr>
        <p:txBody>
          <a:bodyPr/>
          <a:lstStyle/>
          <a:p>
            <a:r>
              <a:rPr lang="uk-UA" dirty="0" smtClean="0">
                <a:latin typeface="Times New Roman" panose="02020603050405020304" pitchFamily="18" charset="0"/>
                <a:cs typeface="Times New Roman" panose="02020603050405020304" pitchFamily="18" charset="0"/>
              </a:rPr>
              <a:t>Ця структура налічує у собі декілька видів елементів: </a:t>
            </a:r>
            <a:r>
              <a:rPr lang="en-US" dirty="0" smtClean="0">
                <a:latin typeface="Times New Roman" panose="02020603050405020304" pitchFamily="18" charset="0"/>
                <a:cs typeface="Times New Roman" panose="02020603050405020304" pitchFamily="18" charset="0"/>
              </a:rPr>
              <a:t>component- </a:t>
            </a:r>
            <a:r>
              <a:rPr lang="uk-UA" dirty="0" smtClean="0">
                <a:latin typeface="Times New Roman" panose="02020603050405020304" pitchFamily="18" charset="0"/>
                <a:cs typeface="Times New Roman" panose="02020603050405020304" pitchFamily="18" charset="0"/>
              </a:rPr>
              <a:t>загальний інтерфейс або абстрактний клас для всіх об’єктів у структури; </a:t>
            </a:r>
            <a:r>
              <a:rPr lang="en-US" dirty="0" smtClean="0">
                <a:latin typeface="Times New Roman" panose="02020603050405020304" pitchFamily="18" charset="0"/>
                <a:cs typeface="Times New Roman" panose="02020603050405020304" pitchFamily="18" charset="0"/>
              </a:rPr>
              <a:t>leaf</a:t>
            </a:r>
            <a:r>
              <a:rPr lang="uk-UA" dirty="0" smtClean="0">
                <a:latin typeface="Times New Roman" panose="02020603050405020304" pitchFamily="18" charset="0"/>
                <a:cs typeface="Times New Roman" panose="02020603050405020304" pitchFamily="18" charset="0"/>
              </a:rPr>
              <a:t>- «листя» дерева, елементи структури, що не мають дочірніх об’єктів, </a:t>
            </a:r>
            <a:r>
              <a:rPr lang="en-US" dirty="0" smtClean="0">
                <a:latin typeface="Times New Roman" panose="02020603050405020304" pitchFamily="18" charset="0"/>
                <a:cs typeface="Times New Roman" panose="02020603050405020304" pitchFamily="18" charset="0"/>
              </a:rPr>
              <a:t>composite- </a:t>
            </a:r>
            <a:r>
              <a:rPr lang="uk-UA" dirty="0" smtClean="0">
                <a:latin typeface="Times New Roman" panose="02020603050405020304" pitchFamily="18" charset="0"/>
                <a:cs typeface="Times New Roman" panose="02020603050405020304" pitchFamily="18" charset="0"/>
              </a:rPr>
              <a:t>клас, що зберігає у собі інші компонувальники або елементи.</a:t>
            </a:r>
          </a:p>
          <a:p>
            <a:r>
              <a:rPr lang="uk-UA" dirty="0" smtClean="0">
                <a:latin typeface="Times New Roman" panose="02020603050405020304" pitchFamily="18" charset="0"/>
                <a:cs typeface="Times New Roman" panose="02020603050405020304" pitchFamily="18" charset="0"/>
              </a:rPr>
              <a:t>Ідея цього шаблону програмування полягає у організації коду за допомогою перелічених видів.</a:t>
            </a:r>
            <a:endParaRPr lang="uk-UA" dirty="0">
              <a:latin typeface="Times New Roman" panose="02020603050405020304" pitchFamily="18" charset="0"/>
              <a:cs typeface="Times New Roman" panose="02020603050405020304" pitchFamily="18" charset="0"/>
            </a:endParaRPr>
          </a:p>
        </p:txBody>
      </p:sp>
      <p:pic>
        <p:nvPicPr>
          <p:cNvPr id="4" name="Picture 2" descr="JavaScript Composite Design Patter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67908" y="4346944"/>
            <a:ext cx="3502873" cy="2378898"/>
          </a:xfrm>
          <a:prstGeom prst="rect">
            <a:avLst/>
          </a:prstGeom>
          <a:noFill/>
          <a:effectLst>
            <a:softEdge rad="63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364917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33228"/>
            <a:ext cx="10515600" cy="1325563"/>
          </a:xfrm>
        </p:spPr>
        <p:txBody>
          <a:bodyPr/>
          <a:lstStyle/>
          <a:p>
            <a:r>
              <a:rPr lang="uk-UA" dirty="0" smtClean="0">
                <a:latin typeface="Times New Roman" panose="02020603050405020304" pitchFamily="18" charset="0"/>
                <a:cs typeface="Times New Roman" panose="02020603050405020304" pitchFamily="18" charset="0"/>
              </a:rPr>
              <a:t>Використання </a:t>
            </a:r>
            <a:r>
              <a:rPr lang="en-US" dirty="0" smtClean="0">
                <a:latin typeface="Times New Roman" panose="02020603050405020304" pitchFamily="18" charset="0"/>
                <a:cs typeface="Times New Roman" panose="02020603050405020304" pitchFamily="18" charset="0"/>
              </a:rPr>
              <a:t>Composite</a:t>
            </a:r>
            <a:endParaRPr lang="uk-UA"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p:txBody>
          <a:bodyPr/>
          <a:lstStyle/>
          <a:p>
            <a:r>
              <a:rPr lang="uk-UA" dirty="0" smtClean="0">
                <a:latin typeface="Times New Roman" panose="02020603050405020304" pitchFamily="18" charset="0"/>
                <a:cs typeface="Times New Roman" panose="02020603050405020304" pitchFamily="18" charset="0"/>
              </a:rPr>
              <a:t>Перш за все, даний шаблон дуже зручно використовувати для організації файлових систем, де файл та каталог можна розглядати як елементи шаблону.</a:t>
            </a:r>
          </a:p>
        </p:txBody>
      </p:sp>
      <p:pic>
        <p:nvPicPr>
          <p:cNvPr id="4098" name="Picture 2" descr="Patterns in Real Life - CodeProjec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87524" y="4560517"/>
            <a:ext cx="3267018" cy="2127361"/>
          </a:xfrm>
          <a:prstGeom prst="rect">
            <a:avLst/>
          </a:prstGeom>
          <a:noFill/>
          <a:effectLst>
            <a:softEdge rad="63500"/>
          </a:effectLst>
          <a:extLst>
            <a:ext uri="{909E8E84-426E-40DD-AFC4-6F175D3DCCD1}">
              <a14:hiddenFill xmlns:a14="http://schemas.microsoft.com/office/drawing/2010/main">
                <a:solidFill>
                  <a:srgbClr val="FFFFFF"/>
                </a:solidFill>
              </a14:hiddenFill>
            </a:ext>
          </a:extLst>
        </p:spPr>
      </p:pic>
      <p:pic>
        <p:nvPicPr>
          <p:cNvPr id="4100" name="Picture 4" descr="ФАЙЛОВА СИСТЕМА - ІНФОРМАЦІЙНІ ПРОЦЕСИ ТА СИСТЕМИ - Підручник Інформатики 5  клас - Н. В. Морзе - Оріон 2018 рік"/>
          <p:cNvPicPr>
            <a:picLocks noChangeAspect="1" noChangeArrowheads="1"/>
          </p:cNvPicPr>
          <p:nvPr/>
        </p:nvPicPr>
        <p:blipFill rotWithShape="1">
          <a:blip r:embed="rId3">
            <a:extLst>
              <a:ext uri="{28A0092B-C50C-407E-A947-70E740481C1C}">
                <a14:useLocalDpi xmlns:a14="http://schemas.microsoft.com/office/drawing/2010/main" val="0"/>
              </a:ext>
            </a:extLst>
          </a:blip>
          <a:srcRect l="2669" t="1507" r="2289" b="6517"/>
          <a:stretch/>
        </p:blipFill>
        <p:spPr bwMode="auto">
          <a:xfrm>
            <a:off x="8963245" y="2959690"/>
            <a:ext cx="3165242" cy="3728188"/>
          </a:xfrm>
          <a:prstGeom prst="rect">
            <a:avLst/>
          </a:prstGeom>
          <a:noFill/>
          <a:effectLst>
            <a:softEdge rad="63500"/>
          </a:effectLst>
          <a:extLst>
            <a:ext uri="{909E8E84-426E-40DD-AFC4-6F175D3DCCD1}">
              <a14:hiddenFill xmlns:a14="http://schemas.microsoft.com/office/drawing/2010/main">
                <a:solidFill>
                  <a:srgbClr val="FFFFFF"/>
                </a:solidFill>
              </a14:hiddenFill>
            </a:ext>
          </a:extLst>
        </p:spPr>
      </p:pic>
      <p:sp>
        <p:nvSpPr>
          <p:cNvPr id="4" name="Прямоугольник 3"/>
          <p:cNvSpPr/>
          <p:nvPr/>
        </p:nvSpPr>
        <p:spPr>
          <a:xfrm>
            <a:off x="1061483" y="3377429"/>
            <a:ext cx="7678479" cy="2677656"/>
          </a:xfrm>
          <a:prstGeom prst="rect">
            <a:avLst/>
          </a:prstGeom>
        </p:spPr>
        <p:txBody>
          <a:bodyPr wrap="square">
            <a:spAutoFit/>
          </a:bodyPr>
          <a:lstStyle/>
          <a:p>
            <a:r>
              <a:rPr lang="uk-UA" sz="2800" dirty="0">
                <a:latin typeface="Times New Roman" panose="02020603050405020304" pitchFamily="18" charset="0"/>
                <a:cs typeface="Times New Roman" panose="02020603050405020304" pitchFamily="18" charset="0"/>
              </a:rPr>
              <a:t>Також цей шаблон зручно використовувати для організації все можливих структур, як, наприклад, </a:t>
            </a:r>
            <a:r>
              <a:rPr lang="uk-UA" sz="2800" dirty="0" smtClean="0">
                <a:latin typeface="Times New Roman" panose="02020603050405020304" pitchFamily="18" charset="0"/>
                <a:cs typeface="Times New Roman" panose="02020603050405020304" pitchFamily="18" charset="0"/>
              </a:rPr>
              <a:t>структура</a:t>
            </a:r>
          </a:p>
          <a:p>
            <a:r>
              <a:rPr lang="uk-UA" sz="2800" dirty="0" smtClean="0">
                <a:latin typeface="Times New Roman" panose="02020603050405020304" pitchFamily="18" charset="0"/>
                <a:cs typeface="Times New Roman" panose="02020603050405020304" pitchFamily="18" charset="0"/>
              </a:rPr>
              <a:t>компанії</a:t>
            </a:r>
            <a:r>
              <a:rPr lang="uk-UA" sz="2800" dirty="0">
                <a:latin typeface="Times New Roman" panose="02020603050405020304" pitchFamily="18" charset="0"/>
                <a:cs typeface="Times New Roman" panose="02020603050405020304" pitchFamily="18" charset="0"/>
              </a:rPr>
              <a:t>, де керуючі </a:t>
            </a:r>
            <a:r>
              <a:rPr lang="uk-UA" sz="2800" dirty="0" smtClean="0">
                <a:latin typeface="Times New Roman" panose="02020603050405020304" pitchFamily="18" charset="0"/>
                <a:cs typeface="Times New Roman" panose="02020603050405020304" pitchFamily="18" charset="0"/>
              </a:rPr>
              <a:t>особи</a:t>
            </a:r>
          </a:p>
          <a:p>
            <a:r>
              <a:rPr lang="uk-UA" sz="2800" dirty="0" smtClean="0">
                <a:latin typeface="Times New Roman" panose="02020603050405020304" pitchFamily="18" charset="0"/>
                <a:cs typeface="Times New Roman" panose="02020603050405020304" pitchFamily="18" charset="0"/>
              </a:rPr>
              <a:t>займають </a:t>
            </a:r>
            <a:r>
              <a:rPr lang="uk-UA" sz="2800" dirty="0">
                <a:latin typeface="Times New Roman" panose="02020603050405020304" pitchFamily="18" charset="0"/>
                <a:cs typeface="Times New Roman" panose="02020603050405020304" pitchFamily="18" charset="0"/>
              </a:rPr>
              <a:t>роль </a:t>
            </a:r>
            <a:endParaRPr lang="uk-UA" sz="2800" dirty="0" smtClean="0">
              <a:latin typeface="Times New Roman" panose="02020603050405020304" pitchFamily="18" charset="0"/>
              <a:cs typeface="Times New Roman" panose="02020603050405020304" pitchFamily="18" charset="0"/>
            </a:endParaRPr>
          </a:p>
          <a:p>
            <a:r>
              <a:rPr lang="uk-UA" sz="2800" dirty="0" smtClean="0">
                <a:latin typeface="Times New Roman" panose="02020603050405020304" pitchFamily="18" charset="0"/>
                <a:cs typeface="Times New Roman" panose="02020603050405020304" pitchFamily="18" charset="0"/>
              </a:rPr>
              <a:t>компонувальника</a:t>
            </a:r>
            <a:r>
              <a:rPr lang="uk-UA" sz="2800" dirty="0">
                <a:latin typeface="Times New Roman" panose="02020603050405020304" pitchFamily="18" charset="0"/>
                <a:cs typeface="Times New Roman" panose="02020603050405020304" pitchFamily="18" charset="0"/>
              </a:rPr>
              <a:t>.</a:t>
            </a:r>
            <a:endParaRPr lang="uk-UA"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995149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smtClean="0">
                <a:latin typeface="Times New Roman" panose="02020603050405020304" pitchFamily="18" charset="0"/>
                <a:cs typeface="Times New Roman" panose="02020603050405020304" pitchFamily="18" charset="0"/>
              </a:rPr>
              <a:t>Приклад програми, що реалізує </a:t>
            </a:r>
            <a:r>
              <a:rPr lang="en-US" dirty="0" err="1" smtClean="0">
                <a:latin typeface="Times New Roman" panose="02020603050405020304" pitchFamily="18" charset="0"/>
                <a:cs typeface="Times New Roman" panose="02020603050405020304" pitchFamily="18" charset="0"/>
              </a:rPr>
              <a:t>Composide</a:t>
            </a:r>
            <a:endParaRPr lang="uk-UA" dirty="0"/>
          </a:p>
        </p:txBody>
      </p:sp>
      <p:pic>
        <p:nvPicPr>
          <p:cNvPr id="5" name="Рисунок 4"/>
          <p:cNvPicPr>
            <a:picLocks noChangeAspect="1"/>
          </p:cNvPicPr>
          <p:nvPr/>
        </p:nvPicPr>
        <p:blipFill>
          <a:blip r:embed="rId2"/>
          <a:stretch>
            <a:fillRect/>
          </a:stretch>
        </p:blipFill>
        <p:spPr>
          <a:xfrm>
            <a:off x="4185862" y="1690688"/>
            <a:ext cx="4032722" cy="3934163"/>
          </a:xfrm>
          <a:prstGeom prst="rect">
            <a:avLst/>
          </a:prstGeom>
        </p:spPr>
      </p:pic>
      <p:pic>
        <p:nvPicPr>
          <p:cNvPr id="6" name="Рисунок 5"/>
          <p:cNvPicPr>
            <a:picLocks noChangeAspect="1"/>
          </p:cNvPicPr>
          <p:nvPr/>
        </p:nvPicPr>
        <p:blipFill>
          <a:blip r:embed="rId3"/>
          <a:stretch>
            <a:fillRect/>
          </a:stretch>
        </p:blipFill>
        <p:spPr>
          <a:xfrm>
            <a:off x="838200" y="1690688"/>
            <a:ext cx="3143250" cy="2790825"/>
          </a:xfrm>
          <a:prstGeom prst="rect">
            <a:avLst/>
          </a:prstGeom>
        </p:spPr>
      </p:pic>
      <p:pic>
        <p:nvPicPr>
          <p:cNvPr id="9" name="Рисунок 8"/>
          <p:cNvPicPr>
            <a:picLocks noChangeAspect="1"/>
          </p:cNvPicPr>
          <p:nvPr/>
        </p:nvPicPr>
        <p:blipFill rotWithShape="1">
          <a:blip r:embed="rId4"/>
          <a:srcRect r="18234"/>
          <a:stretch/>
        </p:blipFill>
        <p:spPr>
          <a:xfrm>
            <a:off x="8536178" y="1690688"/>
            <a:ext cx="3450173" cy="2543175"/>
          </a:xfrm>
          <a:prstGeom prst="rect">
            <a:avLst/>
          </a:prstGeom>
        </p:spPr>
      </p:pic>
      <p:pic>
        <p:nvPicPr>
          <p:cNvPr id="10" name="Рисунок 9"/>
          <p:cNvPicPr>
            <a:picLocks noChangeAspect="1"/>
          </p:cNvPicPr>
          <p:nvPr/>
        </p:nvPicPr>
        <p:blipFill>
          <a:blip r:embed="rId5"/>
          <a:stretch>
            <a:fillRect/>
          </a:stretch>
        </p:blipFill>
        <p:spPr>
          <a:xfrm>
            <a:off x="9042064" y="4481513"/>
            <a:ext cx="2438400" cy="895350"/>
          </a:xfrm>
          <a:prstGeom prst="rect">
            <a:avLst/>
          </a:prstGeom>
        </p:spPr>
      </p:pic>
    </p:spTree>
    <p:extLst>
      <p:ext uri="{BB962C8B-B14F-4D97-AF65-F5344CB8AC3E}">
        <p14:creationId xmlns:p14="http://schemas.microsoft.com/office/powerpoint/2010/main" val="202405305"/>
      </p:ext>
    </p:extLst>
  </p:cSld>
  <p:clrMapOvr>
    <a:masterClrMapping/>
  </p:clrMapOvr>
  <p:timing>
    <p:tnLst>
      <p:par>
        <p:cTn id="1" dur="indefinite" restart="never" nodeType="tmRoot"/>
      </p:par>
    </p:tnLst>
  </p:timing>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476</TotalTime>
  <Words>552</Words>
  <Application>Microsoft Office PowerPoint</Application>
  <PresentationFormat>Широкоэкранный</PresentationFormat>
  <Paragraphs>57</Paragraphs>
  <Slides>13</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13</vt:i4>
      </vt:variant>
    </vt:vector>
  </HeadingPairs>
  <TitlesOfParts>
    <vt:vector size="18" baseType="lpstr">
      <vt:lpstr>Arial</vt:lpstr>
      <vt:lpstr>Calibri</vt:lpstr>
      <vt:lpstr>Calibri Light</vt:lpstr>
      <vt:lpstr>Times New Roman</vt:lpstr>
      <vt:lpstr>Тема Office</vt:lpstr>
      <vt:lpstr>Шаблони проєктування</vt:lpstr>
      <vt:lpstr>Factory Method</vt:lpstr>
      <vt:lpstr>Детальніше про фабричний метод</vt:lpstr>
      <vt:lpstr>Використання</vt:lpstr>
      <vt:lpstr>Приклад програми, що реалізує фабричний метод</vt:lpstr>
      <vt:lpstr>Chain of Responsibility</vt:lpstr>
      <vt:lpstr>Детальніше про CoR</vt:lpstr>
      <vt:lpstr>Використання</vt:lpstr>
      <vt:lpstr>Приклад програми, що реалізує CoR</vt:lpstr>
      <vt:lpstr>Composite</vt:lpstr>
      <vt:lpstr>Детальніше про Composite</vt:lpstr>
      <vt:lpstr>Використання Composite</vt:lpstr>
      <vt:lpstr>Приклад програми, що реалізує Composide</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Шаблони проєктування</dc:title>
  <dc:creator>Тімохін Данііл Сергійович</dc:creator>
  <cp:lastModifiedBy>Тімохін Данііл Сергійович</cp:lastModifiedBy>
  <cp:revision>39</cp:revision>
  <dcterms:created xsi:type="dcterms:W3CDTF">2024-10-17T10:52:45Z</dcterms:created>
  <dcterms:modified xsi:type="dcterms:W3CDTF">2024-10-17T18:48:52Z</dcterms:modified>
</cp:coreProperties>
</file>